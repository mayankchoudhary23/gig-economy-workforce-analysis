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Lst>
  <p:sldSz cx="14630400" cy="8229600"/>
  <p:notesSz cx="8229600" cy="14630400"/>
  <p:embeddedFontLst>
    <p:embeddedFont>
      <p:font typeface="IBM Plex Sans" panose="020B0503050203000203" pitchFamily="34" charset="0"/>
      <p:regular r:id="rId23"/>
      <p:bold r:id="rId24"/>
      <p:italic r:id="rId25"/>
      <p:boldItalic r:id="rId26"/>
    </p:embeddedFont>
    <p:embeddedFont>
      <p:font typeface="Outfit" pitchFamily="2"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2"/>
    <p:restoredTop sz="94684"/>
  </p:normalViewPr>
  <p:slideViewPr>
    <p:cSldViewPr snapToGrid="0">
      <p:cViewPr>
        <p:scale>
          <a:sx n="99" d="100"/>
          <a:sy n="99" d="100"/>
        </p:scale>
        <p:origin x="22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t>‹#›</a:t>
            </a:fld>
            <a:endParaRPr sz="1200" b="0" i="0" u="none" strike="noStrike" cap="non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76" name="Google Shape;7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8" name="Google Shape;8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7" name="Google Shape;11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37" name="Google Shape;13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45" name="Google Shape;1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5" name="Google Shape;15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62" name="Google Shape;16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81" name="Google Shape;18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89" name="Google Shape;18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97" name="Google Shape;19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06" name="Google Shape;20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15" name="Google Shape;21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8" name="Google Shape;22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42" name="Google Shape;24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56" name="Google Shape;25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0"/>
        <p:cNvGrpSpPr/>
        <p:nvPr/>
      </p:nvGrpSpPr>
      <p:grpSpPr>
        <a:xfrm>
          <a:off x="0" y="0"/>
          <a:ext cx="0" cy="0"/>
          <a:chOff x="0" y="0"/>
          <a:chExt cx="0" cy="0"/>
        </a:xfrm>
      </p:grpSpPr>
      <p:pic>
        <p:nvPicPr>
          <p:cNvPr id="11" name="Google Shape;11;p2"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bg>
      <p:bgPr>
        <a:solidFill>
          <a:srgbClr val="000000"/>
        </a:solidFill>
        <a:effectLst/>
      </p:bgPr>
    </p:bg>
    <p:spTree>
      <p:nvGrpSpPr>
        <p:cNvPr id="1" name="Shape 13"/>
        <p:cNvGrpSpPr/>
        <p:nvPr/>
      </p:nvGrpSpPr>
      <p:grpSpPr>
        <a:xfrm>
          <a:off x="0" y="0"/>
          <a:ext cx="0" cy="0"/>
          <a:chOff x="0" y="0"/>
          <a:chExt cx="0" cy="0"/>
        </a:xfrm>
      </p:grpSpPr>
      <p:pic>
        <p:nvPicPr>
          <p:cNvPr id="14" name="Google Shape;14;p3"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5" name="Google Shape;15;p3"/>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bg>
      <p:bgPr>
        <a:solidFill>
          <a:srgbClr val="000000"/>
        </a:solidFill>
        <a:effectLst/>
      </p:bgPr>
    </p:bg>
    <p:spTree>
      <p:nvGrpSpPr>
        <p:cNvPr id="1" name="Shape 16"/>
        <p:cNvGrpSpPr/>
        <p:nvPr/>
      </p:nvGrpSpPr>
      <p:grpSpPr>
        <a:xfrm>
          <a:off x="0" y="0"/>
          <a:ext cx="0" cy="0"/>
          <a:chOff x="0" y="0"/>
          <a:chExt cx="0" cy="0"/>
        </a:xfrm>
      </p:grpSpPr>
      <p:pic>
        <p:nvPicPr>
          <p:cNvPr id="17" name="Google Shape;17;p4"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8" name="Google Shape;18;p4"/>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bg>
      <p:bgPr>
        <a:solidFill>
          <a:srgbClr val="000000"/>
        </a:solidFill>
        <a:effectLst/>
      </p:bgPr>
    </p:bg>
    <p:spTree>
      <p:nvGrpSpPr>
        <p:cNvPr id="1" name="Shape 19"/>
        <p:cNvGrpSpPr/>
        <p:nvPr/>
      </p:nvGrpSpPr>
      <p:grpSpPr>
        <a:xfrm>
          <a:off x="0" y="0"/>
          <a:ext cx="0" cy="0"/>
          <a:chOff x="0" y="0"/>
          <a:chExt cx="0" cy="0"/>
        </a:xfrm>
      </p:grpSpPr>
      <p:pic>
        <p:nvPicPr>
          <p:cNvPr id="20" name="Google Shape;20;p5"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1" name="Google Shape;21;p5"/>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bg>
      <p:bgPr>
        <a:solidFill>
          <a:srgbClr val="000000"/>
        </a:solidFill>
        <a:effectLst/>
      </p:bgPr>
    </p:bg>
    <p:spTree>
      <p:nvGrpSpPr>
        <p:cNvPr id="1" name="Shape 22"/>
        <p:cNvGrpSpPr/>
        <p:nvPr/>
      </p:nvGrpSpPr>
      <p:grpSpPr>
        <a:xfrm>
          <a:off x="0" y="0"/>
          <a:ext cx="0" cy="0"/>
          <a:chOff x="0" y="0"/>
          <a:chExt cx="0" cy="0"/>
        </a:xfrm>
      </p:grpSpPr>
      <p:pic>
        <p:nvPicPr>
          <p:cNvPr id="23" name="Google Shape;23;p6"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4" name="Google Shape;24;p6"/>
          <p:cNvSpPr/>
          <p:nvPr/>
        </p:nvSpPr>
        <p:spPr>
          <a:xfrm>
            <a:off x="0" y="0"/>
            <a:ext cx="14630400" cy="8229600"/>
          </a:xfrm>
          <a:prstGeom prst="rect">
            <a:avLst/>
          </a:prstGeom>
          <a:solidFill>
            <a:srgbClr val="000000">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bg>
      <p:bgPr>
        <a:solidFill>
          <a:srgbClr val="000000"/>
        </a:solidFill>
        <a:effectLst/>
      </p:bgPr>
    </p:bg>
    <p:spTree>
      <p:nvGrpSpPr>
        <p:cNvPr id="1" name="Shape 25"/>
        <p:cNvGrpSpPr/>
        <p:nvPr/>
      </p:nvGrpSpPr>
      <p:grpSpPr>
        <a:xfrm>
          <a:off x="0" y="0"/>
          <a:ext cx="0" cy="0"/>
          <a:chOff x="0" y="0"/>
          <a:chExt cx="0" cy="0"/>
        </a:xfrm>
      </p:grpSpPr>
      <p:pic>
        <p:nvPicPr>
          <p:cNvPr id="26" name="Google Shape;26;p7"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7" name="Google Shape;27;p7"/>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bg>
      <p:bgPr>
        <a:solidFill>
          <a:srgbClr val="000000"/>
        </a:solidFill>
        <a:effectLst/>
      </p:bgPr>
    </p:bg>
    <p:spTree>
      <p:nvGrpSpPr>
        <p:cNvPr id="1" name="Shape 28"/>
        <p:cNvGrpSpPr/>
        <p:nvPr/>
      </p:nvGrpSpPr>
      <p:grpSpPr>
        <a:xfrm>
          <a:off x="0" y="0"/>
          <a:ext cx="0" cy="0"/>
          <a:chOff x="0" y="0"/>
          <a:chExt cx="0" cy="0"/>
        </a:xfrm>
      </p:grpSpPr>
      <p:pic>
        <p:nvPicPr>
          <p:cNvPr id="29" name="Google Shape;29;p8"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0" name="Google Shape;30;p8"/>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bg>
      <p:bgPr>
        <a:solidFill>
          <a:srgbClr val="000000"/>
        </a:solidFill>
        <a:effectLst/>
      </p:bgPr>
    </p:bg>
    <p:spTree>
      <p:nvGrpSpPr>
        <p:cNvPr id="1" name="Shape 31"/>
        <p:cNvGrpSpPr/>
        <p:nvPr/>
      </p:nvGrpSpPr>
      <p:grpSpPr>
        <a:xfrm>
          <a:off x="0" y="0"/>
          <a:ext cx="0" cy="0"/>
          <a:chOff x="0" y="0"/>
          <a:chExt cx="0" cy="0"/>
        </a:xfrm>
      </p:grpSpPr>
      <p:pic>
        <p:nvPicPr>
          <p:cNvPr id="32" name="Google Shape;32;p9"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3" name="Google Shape;33;p9"/>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bg>
      <p:bgPr>
        <a:solidFill>
          <a:srgbClr val="000000"/>
        </a:solidFill>
        <a:effectLst/>
      </p:bgPr>
    </p:bg>
    <p:spTree>
      <p:nvGrpSpPr>
        <p:cNvPr id="1" name="Shape 34"/>
        <p:cNvGrpSpPr/>
        <p:nvPr/>
      </p:nvGrpSpPr>
      <p:grpSpPr>
        <a:xfrm>
          <a:off x="0" y="0"/>
          <a:ext cx="0" cy="0"/>
          <a:chOff x="0" y="0"/>
          <a:chExt cx="0" cy="0"/>
        </a:xfrm>
      </p:grpSpPr>
      <p:pic>
        <p:nvPicPr>
          <p:cNvPr id="35" name="Google Shape;35;p10"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6" name="Google Shape;36;p10"/>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1 master">
  <p:cSld name="Slide 11 master">
    <p:bg>
      <p:bgPr>
        <a:solidFill>
          <a:srgbClr val="000000"/>
        </a:solidFill>
        <a:effectLst/>
      </p:bgPr>
    </p:bg>
    <p:spTree>
      <p:nvGrpSpPr>
        <p:cNvPr id="1" name="Shape 40"/>
        <p:cNvGrpSpPr/>
        <p:nvPr/>
      </p:nvGrpSpPr>
      <p:grpSpPr>
        <a:xfrm>
          <a:off x="0" y="0"/>
          <a:ext cx="0" cy="0"/>
          <a:chOff x="0" y="0"/>
          <a:chExt cx="0" cy="0"/>
        </a:xfrm>
      </p:grpSpPr>
      <p:pic>
        <p:nvPicPr>
          <p:cNvPr id="41" name="Google Shape;41;p12"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42" name="Google Shape;42;p12"/>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2 master">
  <p:cSld name="Slide 12 master">
    <p:bg>
      <p:bgPr>
        <a:solidFill>
          <a:srgbClr val="000000"/>
        </a:solidFill>
        <a:effectLst/>
      </p:bgPr>
    </p:bg>
    <p:spTree>
      <p:nvGrpSpPr>
        <p:cNvPr id="1" name="Shape 43"/>
        <p:cNvGrpSpPr/>
        <p:nvPr/>
      </p:nvGrpSpPr>
      <p:grpSpPr>
        <a:xfrm>
          <a:off x="0" y="0"/>
          <a:ext cx="0" cy="0"/>
          <a:chOff x="0" y="0"/>
          <a:chExt cx="0" cy="0"/>
        </a:xfrm>
      </p:grpSpPr>
      <p:pic>
        <p:nvPicPr>
          <p:cNvPr id="44" name="Google Shape;44;p13"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45" name="Google Shape;45;p13"/>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3 master">
  <p:cSld name="Slide 13 master">
    <p:bg>
      <p:bgPr>
        <a:solidFill>
          <a:srgbClr val="000000"/>
        </a:solidFill>
        <a:effectLst/>
      </p:bgPr>
    </p:bg>
    <p:spTree>
      <p:nvGrpSpPr>
        <p:cNvPr id="1" name="Shape 46"/>
        <p:cNvGrpSpPr/>
        <p:nvPr/>
      </p:nvGrpSpPr>
      <p:grpSpPr>
        <a:xfrm>
          <a:off x="0" y="0"/>
          <a:ext cx="0" cy="0"/>
          <a:chOff x="0" y="0"/>
          <a:chExt cx="0" cy="0"/>
        </a:xfrm>
      </p:grpSpPr>
      <p:pic>
        <p:nvPicPr>
          <p:cNvPr id="47" name="Google Shape;47;p14"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48" name="Google Shape;48;p14"/>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14 master">
  <p:cSld name="Slide 14 master">
    <p:bg>
      <p:bgPr>
        <a:solidFill>
          <a:srgbClr val="000000"/>
        </a:solidFill>
        <a:effectLst/>
      </p:bgPr>
    </p:bg>
    <p:spTree>
      <p:nvGrpSpPr>
        <p:cNvPr id="1" name="Shape 49"/>
        <p:cNvGrpSpPr/>
        <p:nvPr/>
      </p:nvGrpSpPr>
      <p:grpSpPr>
        <a:xfrm>
          <a:off x="0" y="0"/>
          <a:ext cx="0" cy="0"/>
          <a:chOff x="0" y="0"/>
          <a:chExt cx="0" cy="0"/>
        </a:xfrm>
      </p:grpSpPr>
      <p:pic>
        <p:nvPicPr>
          <p:cNvPr id="50" name="Google Shape;50;p15"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51" name="Google Shape;51;p15"/>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15 master">
  <p:cSld name="Slide 15 master">
    <p:bg>
      <p:bgPr>
        <a:solidFill>
          <a:srgbClr val="000000"/>
        </a:solidFill>
        <a:effectLst/>
      </p:bgPr>
    </p:bg>
    <p:spTree>
      <p:nvGrpSpPr>
        <p:cNvPr id="1" name="Shape 52"/>
        <p:cNvGrpSpPr/>
        <p:nvPr/>
      </p:nvGrpSpPr>
      <p:grpSpPr>
        <a:xfrm>
          <a:off x="0" y="0"/>
          <a:ext cx="0" cy="0"/>
          <a:chOff x="0" y="0"/>
          <a:chExt cx="0" cy="0"/>
        </a:xfrm>
      </p:grpSpPr>
      <p:pic>
        <p:nvPicPr>
          <p:cNvPr id="53" name="Google Shape;53;p16"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54" name="Google Shape;54;p16"/>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16 master">
  <p:cSld name="Slide 16 master">
    <p:bg>
      <p:bgPr>
        <a:solidFill>
          <a:srgbClr val="000000"/>
        </a:solidFill>
        <a:effectLst/>
      </p:bgPr>
    </p:bg>
    <p:spTree>
      <p:nvGrpSpPr>
        <p:cNvPr id="1" name="Shape 55"/>
        <p:cNvGrpSpPr/>
        <p:nvPr/>
      </p:nvGrpSpPr>
      <p:grpSpPr>
        <a:xfrm>
          <a:off x="0" y="0"/>
          <a:ext cx="0" cy="0"/>
          <a:chOff x="0" y="0"/>
          <a:chExt cx="0" cy="0"/>
        </a:xfrm>
      </p:grpSpPr>
      <p:pic>
        <p:nvPicPr>
          <p:cNvPr id="56" name="Google Shape;56;p17"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57" name="Google Shape;57;p17"/>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17 master">
  <p:cSld name="Slide 17 master">
    <p:bg>
      <p:bgPr>
        <a:solidFill>
          <a:srgbClr val="000000"/>
        </a:solidFill>
        <a:effectLst/>
      </p:bgPr>
    </p:bg>
    <p:spTree>
      <p:nvGrpSpPr>
        <p:cNvPr id="1" name="Shape 58"/>
        <p:cNvGrpSpPr/>
        <p:nvPr/>
      </p:nvGrpSpPr>
      <p:grpSpPr>
        <a:xfrm>
          <a:off x="0" y="0"/>
          <a:ext cx="0" cy="0"/>
          <a:chOff x="0" y="0"/>
          <a:chExt cx="0" cy="0"/>
        </a:xfrm>
      </p:grpSpPr>
      <p:pic>
        <p:nvPicPr>
          <p:cNvPr id="59" name="Google Shape;59;p18"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60" name="Google Shape;60;p18"/>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18 master">
  <p:cSld name="Slide 18 master">
    <p:bg>
      <p:bgPr>
        <a:solidFill>
          <a:srgbClr val="000000"/>
        </a:solidFill>
        <a:effectLst/>
      </p:bgPr>
    </p:bg>
    <p:spTree>
      <p:nvGrpSpPr>
        <p:cNvPr id="1" name="Shape 61"/>
        <p:cNvGrpSpPr/>
        <p:nvPr/>
      </p:nvGrpSpPr>
      <p:grpSpPr>
        <a:xfrm>
          <a:off x="0" y="0"/>
          <a:ext cx="0" cy="0"/>
          <a:chOff x="0" y="0"/>
          <a:chExt cx="0" cy="0"/>
        </a:xfrm>
      </p:grpSpPr>
      <p:pic>
        <p:nvPicPr>
          <p:cNvPr id="62" name="Google Shape;62;p19"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63" name="Google Shape;63;p19"/>
          <p:cNvSpPr/>
          <p:nvPr/>
        </p:nvSpPr>
        <p:spPr>
          <a:xfrm>
            <a:off x="0" y="0"/>
            <a:ext cx="14630400" cy="8229600"/>
          </a:xfrm>
          <a:prstGeom prst="rect">
            <a:avLst/>
          </a:prstGeom>
          <a:solidFill>
            <a:srgbClr val="FFFFFF">
              <a:alpha val="9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7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24" descr="preencoded.png"/>
          <p:cNvPicPr preferRelativeResize="0"/>
          <p:nvPr/>
        </p:nvPicPr>
        <p:blipFill rotWithShape="1">
          <a:blip r:embed="rId3">
            <a:alphaModFix/>
          </a:blip>
          <a:srcRect l="6933" r="7146"/>
          <a:stretch>
            <a:fillRect/>
          </a:stretch>
        </p:blipFill>
        <p:spPr>
          <a:xfrm>
            <a:off x="0" y="0"/>
            <a:ext cx="14681201" cy="822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5"/>
          <p:cNvSpPr/>
          <p:nvPr/>
        </p:nvSpPr>
        <p:spPr>
          <a:xfrm>
            <a:off x="-150126" y="-174903"/>
            <a:ext cx="14630400" cy="8229600"/>
          </a:xfrm>
          <a:prstGeom prst="rect">
            <a:avLst/>
          </a:prstGeom>
          <a:solidFill>
            <a:srgbClr val="FFFFFF">
              <a:alpha val="8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5"/>
          <p:cNvSpPr/>
          <p:nvPr/>
        </p:nvSpPr>
        <p:spPr>
          <a:xfrm>
            <a:off x="793790" y="174903"/>
            <a:ext cx="3402330" cy="425291"/>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3F6FF3"/>
              </a:buClr>
              <a:buSzPts val="2650"/>
              <a:buFont typeface="Outfit"/>
              <a:buNone/>
            </a:pPr>
            <a:r>
              <a:rPr lang="en-US" sz="3200" b="0" i="0" u="none" strike="noStrike" cap="none" dirty="0">
                <a:solidFill>
                  <a:srgbClr val="3F6FF3"/>
                </a:solidFill>
                <a:latin typeface="Outfit"/>
                <a:ea typeface="Outfit"/>
                <a:cs typeface="Outfit"/>
                <a:sym typeface="Outfit"/>
              </a:rPr>
              <a:t>Primary Audience:</a:t>
            </a:r>
            <a:endParaRPr sz="3200" b="0" i="0" u="none" strike="noStrike" cap="none" dirty="0"/>
          </a:p>
        </p:txBody>
      </p:sp>
      <p:sp>
        <p:nvSpPr>
          <p:cNvPr id="95" name="Google Shape;95;p25"/>
          <p:cNvSpPr/>
          <p:nvPr/>
        </p:nvSpPr>
        <p:spPr>
          <a:xfrm>
            <a:off x="793790" y="1052988"/>
            <a:ext cx="13042821" cy="81081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666666"/>
              </a:buClr>
              <a:buSzPts val="1750"/>
              <a:buFont typeface="IBM Plex Sans"/>
              <a:buNone/>
            </a:pPr>
            <a:r>
              <a:rPr lang="en-US" sz="2000" b="1" i="0" u="none" strike="noStrike" cap="none" dirty="0">
                <a:solidFill>
                  <a:srgbClr val="666666"/>
                </a:solidFill>
                <a:latin typeface="IBM Plex Sans"/>
                <a:ea typeface="IBM Plex Sans"/>
                <a:cs typeface="IBM Plex Sans"/>
                <a:sym typeface="IBM Plex Sans"/>
              </a:rPr>
              <a:t>Policy makers and government agencies</a:t>
            </a:r>
            <a:r>
              <a:rPr lang="en-US" sz="2000" b="0" i="0" u="none" strike="noStrike" cap="none" dirty="0">
                <a:solidFill>
                  <a:srgbClr val="666666"/>
                </a:solidFill>
                <a:latin typeface="IBM Plex Sans"/>
                <a:ea typeface="IBM Plex Sans"/>
                <a:cs typeface="IBM Plex Sans"/>
                <a:sym typeface="IBM Plex Sans"/>
              </a:rPr>
              <a:t> interested in understanding where independent work is most prevalent and how it relates to local economic conditions.</a:t>
            </a:r>
            <a:endParaRPr sz="2000" b="0" i="0" u="none" strike="noStrike" cap="none" dirty="0"/>
          </a:p>
        </p:txBody>
      </p:sp>
      <p:sp>
        <p:nvSpPr>
          <p:cNvPr id="96" name="Google Shape;96;p25"/>
          <p:cNvSpPr/>
          <p:nvPr/>
        </p:nvSpPr>
        <p:spPr>
          <a:xfrm>
            <a:off x="793790" y="2316597"/>
            <a:ext cx="4842735" cy="425291"/>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3F6FF3"/>
              </a:buClr>
              <a:buSzPts val="2650"/>
              <a:buFont typeface="Outfit"/>
              <a:buNone/>
            </a:pPr>
            <a:r>
              <a:rPr lang="en-US" sz="3200" b="0" i="0" u="none" strike="noStrike" cap="none" dirty="0">
                <a:solidFill>
                  <a:srgbClr val="3F6FF3"/>
                </a:solidFill>
                <a:latin typeface="Outfit"/>
                <a:ea typeface="Outfit"/>
                <a:cs typeface="Outfit"/>
                <a:sym typeface="Outfit"/>
              </a:rPr>
              <a:t>Secondary Audience:</a:t>
            </a:r>
            <a:endParaRPr sz="3200" b="0" i="0" u="none" strike="noStrike" cap="none" dirty="0"/>
          </a:p>
        </p:txBody>
      </p:sp>
      <p:sp>
        <p:nvSpPr>
          <p:cNvPr id="97" name="Google Shape;97;p25"/>
          <p:cNvSpPr/>
          <p:nvPr/>
        </p:nvSpPr>
        <p:spPr>
          <a:xfrm>
            <a:off x="793790" y="3218622"/>
            <a:ext cx="13042821"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666666"/>
              </a:buClr>
              <a:buSzPts val="1750"/>
              <a:buFont typeface="IBM Plex Sans"/>
              <a:buNone/>
            </a:pPr>
            <a:r>
              <a:rPr lang="en-US" sz="2000" b="1" i="0" u="none" strike="noStrike" cap="none" dirty="0">
                <a:solidFill>
                  <a:srgbClr val="666666"/>
                </a:solidFill>
                <a:latin typeface="IBM Plex Sans"/>
                <a:ea typeface="IBM Plex Sans"/>
                <a:cs typeface="IBM Plex Sans"/>
                <a:sym typeface="IBM Plex Sans"/>
              </a:rPr>
              <a:t>Labor economists and researchers</a:t>
            </a:r>
            <a:r>
              <a:rPr lang="en-US" sz="2000" b="0" i="0" u="none" strike="noStrike" cap="none" dirty="0">
                <a:solidFill>
                  <a:srgbClr val="666666"/>
                </a:solidFill>
                <a:latin typeface="IBM Plex Sans"/>
                <a:ea typeface="IBM Plex Sans"/>
                <a:cs typeface="IBM Plex Sans"/>
                <a:sym typeface="IBM Plex Sans"/>
              </a:rPr>
              <a:t> studying nontraditional employment patterns</a:t>
            </a:r>
            <a:r>
              <a:rPr lang="en-US" sz="1750" b="0" i="0" u="none" strike="noStrike" cap="none" dirty="0">
                <a:solidFill>
                  <a:srgbClr val="666666"/>
                </a:solidFill>
                <a:latin typeface="IBM Plex Sans"/>
                <a:ea typeface="IBM Plex Sans"/>
                <a:cs typeface="IBM Plex Sans"/>
                <a:sym typeface="IBM Plex Sans"/>
              </a:rPr>
              <a:t>.</a:t>
            </a:r>
            <a:endParaRPr sz="1750" b="0" i="0" u="none" strike="noStrike" cap="none" dirty="0"/>
          </a:p>
        </p:txBody>
      </p:sp>
      <p:sp>
        <p:nvSpPr>
          <p:cNvPr id="98" name="Google Shape;98;p25"/>
          <p:cNvSpPr/>
          <p:nvPr/>
        </p:nvSpPr>
        <p:spPr>
          <a:xfrm>
            <a:off x="793790" y="3847502"/>
            <a:ext cx="13042821"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666666"/>
              </a:buClr>
              <a:buSzPts val="1750"/>
              <a:buFont typeface="IBM Plex Sans"/>
              <a:buNone/>
            </a:pPr>
            <a:r>
              <a:rPr lang="en-US" sz="2000" b="1" i="0" u="none" strike="noStrike" cap="none" dirty="0">
                <a:solidFill>
                  <a:srgbClr val="666666"/>
                </a:solidFill>
                <a:latin typeface="IBM Plex Sans"/>
                <a:ea typeface="IBM Plex Sans"/>
                <a:cs typeface="IBM Plex Sans"/>
                <a:sym typeface="IBM Plex Sans"/>
              </a:rPr>
              <a:t>Urban planners and regional analysts</a:t>
            </a:r>
            <a:r>
              <a:rPr lang="en-US" sz="2000" b="0" i="0" u="none" strike="noStrike" cap="none" dirty="0">
                <a:solidFill>
                  <a:srgbClr val="666666"/>
                </a:solidFill>
                <a:latin typeface="IBM Plex Sans"/>
                <a:ea typeface="IBM Plex Sans"/>
                <a:cs typeface="IBM Plex Sans"/>
                <a:sym typeface="IBM Plex Sans"/>
              </a:rPr>
              <a:t> examining workforce concentration and regional inequality.</a:t>
            </a:r>
            <a:endParaRPr sz="2000" b="0" i="0" u="none" strike="noStrike" cap="none" dirty="0"/>
          </a:p>
        </p:txBody>
      </p:sp>
      <p:sp>
        <p:nvSpPr>
          <p:cNvPr id="99" name="Google Shape;99;p25"/>
          <p:cNvSpPr/>
          <p:nvPr/>
        </p:nvSpPr>
        <p:spPr>
          <a:xfrm>
            <a:off x="793789" y="4514618"/>
            <a:ext cx="13042821"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666666"/>
              </a:buClr>
              <a:buSzPts val="1750"/>
              <a:buFont typeface="IBM Plex Sans"/>
              <a:buNone/>
            </a:pPr>
            <a:r>
              <a:rPr lang="en-US" sz="2000" b="1" i="0" u="none" strike="noStrike" cap="none" dirty="0">
                <a:solidFill>
                  <a:srgbClr val="666666"/>
                </a:solidFill>
                <a:latin typeface="IBM Plex Sans"/>
                <a:ea typeface="IBM Plex Sans"/>
                <a:cs typeface="IBM Plex Sans"/>
                <a:sym typeface="IBM Plex Sans"/>
              </a:rPr>
              <a:t>Business strategists and platform-based companies</a:t>
            </a:r>
            <a:r>
              <a:rPr lang="en-US" sz="2000" b="0" i="0" u="none" strike="noStrike" cap="none" dirty="0">
                <a:solidFill>
                  <a:srgbClr val="666666"/>
                </a:solidFill>
                <a:latin typeface="IBM Plex Sans"/>
                <a:ea typeface="IBM Plex Sans"/>
                <a:cs typeface="IBM Plex Sans"/>
                <a:sym typeface="IBM Plex Sans"/>
              </a:rPr>
              <a:t> seeking insights into regional gig labor availability.</a:t>
            </a:r>
            <a:endParaRPr sz="2000" b="0" i="0" u="none" strike="noStrike" cap="none" dirty="0"/>
          </a:p>
        </p:txBody>
      </p:sp>
      <p:sp>
        <p:nvSpPr>
          <p:cNvPr id="100" name="Google Shape;100;p25"/>
          <p:cNvSpPr/>
          <p:nvPr/>
        </p:nvSpPr>
        <p:spPr>
          <a:xfrm>
            <a:off x="793790" y="5202023"/>
            <a:ext cx="3402330" cy="425291"/>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3F6FF3"/>
              </a:buClr>
              <a:buSzPts val="2650"/>
              <a:buFont typeface="Outfit"/>
              <a:buNone/>
            </a:pPr>
            <a:r>
              <a:rPr lang="en-US" sz="3200" b="0" i="0" u="none" strike="noStrike" cap="none" dirty="0">
                <a:solidFill>
                  <a:srgbClr val="3F6FF3"/>
                </a:solidFill>
                <a:latin typeface="Outfit"/>
                <a:ea typeface="Outfit"/>
                <a:cs typeface="Outfit"/>
                <a:sym typeface="Outfit"/>
              </a:rPr>
              <a:t>Purpose:</a:t>
            </a:r>
            <a:endParaRPr sz="3200" b="0" i="0" u="none" strike="noStrike" cap="none" dirty="0"/>
          </a:p>
        </p:txBody>
      </p:sp>
      <p:sp>
        <p:nvSpPr>
          <p:cNvPr id="101" name="Google Shape;101;p25"/>
          <p:cNvSpPr/>
          <p:nvPr/>
        </p:nvSpPr>
        <p:spPr>
          <a:xfrm>
            <a:off x="793788" y="5869437"/>
            <a:ext cx="13042821"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666666"/>
              </a:buClr>
              <a:buSzPts val="1750"/>
              <a:buFont typeface="IBM Plex Sans"/>
              <a:buNone/>
            </a:pPr>
            <a:r>
              <a:rPr lang="en-US" sz="2000" b="0" i="0" u="none" strike="noStrike" cap="none" dirty="0">
                <a:solidFill>
                  <a:srgbClr val="666666"/>
                </a:solidFill>
                <a:latin typeface="IBM Plex Sans"/>
                <a:ea typeface="IBM Plex Sans"/>
                <a:cs typeface="IBM Plex Sans"/>
                <a:sym typeface="IBM Plex Sans"/>
              </a:rPr>
              <a:t>This analysis supports </a:t>
            </a:r>
            <a:r>
              <a:rPr lang="en-US" sz="2000" b="1" i="0" u="none" strike="noStrike" cap="none" dirty="0">
                <a:solidFill>
                  <a:srgbClr val="666666"/>
                </a:solidFill>
                <a:latin typeface="IBM Plex Sans"/>
                <a:ea typeface="IBM Plex Sans"/>
                <a:cs typeface="IBM Plex Sans"/>
                <a:sym typeface="IBM Plex Sans"/>
              </a:rPr>
              <a:t>data-driven decision-making</a:t>
            </a:r>
            <a:r>
              <a:rPr lang="en-US" sz="2000" b="0" i="0" u="none" strike="noStrike" cap="none" dirty="0">
                <a:solidFill>
                  <a:srgbClr val="666666"/>
                </a:solidFill>
                <a:latin typeface="IBM Plex Sans"/>
                <a:ea typeface="IBM Plex Sans"/>
                <a:cs typeface="IBM Plex Sans"/>
                <a:sym typeface="IBM Plex Sans"/>
              </a:rPr>
              <a:t> by revealing spatial, economic, and demographic patterns of the U.S. gig economy that are often underrepresented in traditional labor statistics.</a:t>
            </a:r>
            <a:endParaRPr sz="2000" b="0" i="0" u="none" strike="noStrike" cap="non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26"/>
          <p:cNvSpPr/>
          <p:nvPr/>
        </p:nvSpPr>
        <p:spPr>
          <a:xfrm>
            <a:off x="793790" y="291941"/>
            <a:ext cx="7462361" cy="51030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F6FF3"/>
              </a:buClr>
              <a:buSzPts val="3200"/>
              <a:buFont typeface="Outfit"/>
              <a:buNone/>
            </a:pPr>
            <a:r>
              <a:rPr lang="en-US" sz="3200" b="0" i="0" u="none" strike="noStrike" cap="none" dirty="0">
                <a:solidFill>
                  <a:srgbClr val="3F6FF3"/>
                </a:solidFill>
                <a:latin typeface="Outfit"/>
                <a:ea typeface="Outfit"/>
                <a:cs typeface="Outfit"/>
                <a:sym typeface="Outfit"/>
              </a:rPr>
              <a:t>Research Questions Guiding This Analysis</a:t>
            </a:r>
            <a:endParaRPr sz="3200" b="0" i="0" u="none" strike="noStrike" cap="none" dirty="0"/>
          </a:p>
        </p:txBody>
      </p:sp>
      <p:sp>
        <p:nvSpPr>
          <p:cNvPr id="109" name="Google Shape;109;p26"/>
          <p:cNvSpPr/>
          <p:nvPr/>
        </p:nvSpPr>
        <p:spPr>
          <a:xfrm>
            <a:off x="793779" y="1187290"/>
            <a:ext cx="13042821" cy="653415"/>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666666"/>
              </a:buClr>
              <a:buSzPts val="1600"/>
              <a:buFont typeface="IBM Plex Sans"/>
              <a:buNone/>
            </a:pPr>
            <a:r>
              <a:rPr lang="en-US" sz="1800" b="1" i="0" u="none" strike="noStrike" cap="none" dirty="0">
                <a:solidFill>
                  <a:srgbClr val="666666"/>
                </a:solidFill>
                <a:latin typeface="IBM Plex Sans"/>
                <a:ea typeface="IBM Plex Sans"/>
                <a:cs typeface="IBM Plex Sans"/>
                <a:sym typeface="IBM Plex Sans"/>
              </a:rPr>
              <a:t>Where is gig-style independent work most concentrated in the U.S.?</a:t>
            </a:r>
          </a:p>
          <a:p>
            <a:pPr marL="0" marR="0" lvl="0" indent="0" algn="l" rtl="0">
              <a:lnSpc>
                <a:spcPct val="159375"/>
              </a:lnSpc>
              <a:spcBef>
                <a:spcPts val="0"/>
              </a:spcBef>
              <a:spcAft>
                <a:spcPts val="0"/>
              </a:spcAft>
              <a:buClr>
                <a:srgbClr val="666666"/>
              </a:buClr>
              <a:buSzPts val="1600"/>
              <a:buFont typeface="IBM Plex Sans"/>
              <a:buNone/>
            </a:pPr>
            <a:r>
              <a:rPr lang="en-US" sz="1800" b="0" i="0" u="none" strike="noStrike" cap="none" dirty="0">
                <a:solidFill>
                  <a:srgbClr val="666666"/>
                </a:solidFill>
                <a:latin typeface="IBM Plex Sans"/>
                <a:ea typeface="IBM Plex Sans"/>
                <a:cs typeface="IBM Plex Sans"/>
                <a:sym typeface="IBM Plex Sans"/>
              </a:rPr>
              <a:t>Which counties and regions show the highest density of nonemployer activity, indicating gig "hotspots" across the country?</a:t>
            </a:r>
            <a:endParaRPr sz="1800" b="0" i="0" u="none" strike="noStrike" cap="none" dirty="0"/>
          </a:p>
        </p:txBody>
      </p:sp>
      <p:sp>
        <p:nvSpPr>
          <p:cNvPr id="110" name="Google Shape;110;p26"/>
          <p:cNvSpPr/>
          <p:nvPr/>
        </p:nvSpPr>
        <p:spPr>
          <a:xfrm>
            <a:off x="793780" y="2167411"/>
            <a:ext cx="13042821" cy="653415"/>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666666"/>
              </a:buClr>
              <a:buSzPts val="1600"/>
              <a:buFont typeface="IBM Plex Sans"/>
              <a:buNone/>
            </a:pPr>
            <a:r>
              <a:rPr lang="en-US" sz="1800" b="1" i="0" u="none" strike="noStrike" cap="none" dirty="0">
                <a:solidFill>
                  <a:srgbClr val="666666"/>
                </a:solidFill>
                <a:latin typeface="IBM Plex Sans"/>
                <a:ea typeface="IBM Plex Sans"/>
                <a:cs typeface="IBM Plex Sans"/>
                <a:sym typeface="IBM Plex Sans"/>
              </a:rPr>
              <a:t>Do gig earnings align with local cost-of-living requirements?</a:t>
            </a:r>
          </a:p>
          <a:p>
            <a:pPr marL="0" marR="0" lvl="0" indent="0" algn="l" rtl="0">
              <a:lnSpc>
                <a:spcPct val="159375"/>
              </a:lnSpc>
              <a:spcBef>
                <a:spcPts val="0"/>
              </a:spcBef>
              <a:spcAft>
                <a:spcPts val="0"/>
              </a:spcAft>
              <a:buClr>
                <a:srgbClr val="666666"/>
              </a:buClr>
              <a:buSzPts val="1600"/>
              <a:buFont typeface="IBM Plex Sans"/>
              <a:buNone/>
            </a:pPr>
            <a:r>
              <a:rPr lang="en-US" sz="1800" b="0" i="0" u="none" strike="noStrike" cap="none" dirty="0">
                <a:solidFill>
                  <a:srgbClr val="666666"/>
                </a:solidFill>
                <a:latin typeface="IBM Plex Sans"/>
                <a:ea typeface="IBM Plex Sans"/>
                <a:cs typeface="IBM Plex Sans"/>
                <a:sym typeface="IBM Plex Sans"/>
              </a:rPr>
              <a:t>How do estimated gig earnings (using nonemployer receipts) compare to county-level living wage benchmarks, and where do gaps emerge?</a:t>
            </a:r>
            <a:endParaRPr sz="1800" b="0" i="0" u="none" strike="noStrike" cap="none" dirty="0"/>
          </a:p>
        </p:txBody>
      </p:sp>
      <p:sp>
        <p:nvSpPr>
          <p:cNvPr id="111" name="Google Shape;111;p26"/>
          <p:cNvSpPr/>
          <p:nvPr/>
        </p:nvSpPr>
        <p:spPr>
          <a:xfrm>
            <a:off x="793781" y="3482105"/>
            <a:ext cx="13042821" cy="980123"/>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666666"/>
              </a:buClr>
              <a:buSzPts val="1600"/>
              <a:buFont typeface="IBM Plex Sans"/>
              <a:buNone/>
            </a:pPr>
            <a:r>
              <a:rPr lang="en-US" sz="1800" b="1" i="0" u="none" strike="noStrike" cap="none" dirty="0">
                <a:solidFill>
                  <a:srgbClr val="666666"/>
                </a:solidFill>
                <a:latin typeface="IBM Plex Sans"/>
                <a:ea typeface="IBM Plex Sans"/>
                <a:cs typeface="IBM Plex Sans"/>
                <a:sym typeface="IBM Plex Sans"/>
              </a:rPr>
              <a:t>Who participates in gig work, and what are their financial characteristics?</a:t>
            </a:r>
          </a:p>
          <a:p>
            <a:pPr marL="0" marR="0" lvl="0" indent="0" algn="l" rtl="0">
              <a:lnSpc>
                <a:spcPct val="159375"/>
              </a:lnSpc>
              <a:spcBef>
                <a:spcPts val="0"/>
              </a:spcBef>
              <a:spcAft>
                <a:spcPts val="0"/>
              </a:spcAft>
              <a:buClr>
                <a:srgbClr val="666666"/>
              </a:buClr>
              <a:buSzPts val="1600"/>
              <a:buFont typeface="IBM Plex Sans"/>
              <a:buNone/>
            </a:pPr>
            <a:r>
              <a:rPr lang="en-US" sz="1800" b="0" i="0" u="none" strike="noStrike" cap="none" dirty="0">
                <a:solidFill>
                  <a:srgbClr val="666666"/>
                </a:solidFill>
                <a:latin typeface="IBM Plex Sans"/>
                <a:ea typeface="IBM Plex Sans"/>
                <a:cs typeface="IBM Plex Sans"/>
                <a:sym typeface="IBM Plex Sans"/>
              </a:rPr>
              <a:t>What demographic and income patterns distinguish individuals engaged in independent or gig-style work, based on national SHED survey data?</a:t>
            </a:r>
            <a:endParaRPr sz="1800" b="0" i="0" u="none" strike="noStrike" cap="none" dirty="0"/>
          </a:p>
        </p:txBody>
      </p:sp>
      <p:sp>
        <p:nvSpPr>
          <p:cNvPr id="112" name="Google Shape;112;p26"/>
          <p:cNvSpPr/>
          <p:nvPr/>
        </p:nvSpPr>
        <p:spPr>
          <a:xfrm>
            <a:off x="793781" y="4847275"/>
            <a:ext cx="13042821" cy="980123"/>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666666"/>
              </a:buClr>
              <a:buSzPts val="1600"/>
              <a:buFont typeface="IBM Plex Sans"/>
              <a:buNone/>
            </a:pPr>
            <a:r>
              <a:rPr lang="en-US" sz="1800" b="1" i="0" u="none" strike="noStrike" cap="none" dirty="0">
                <a:solidFill>
                  <a:srgbClr val="666666"/>
                </a:solidFill>
                <a:latin typeface="IBM Plex Sans"/>
                <a:ea typeface="IBM Plex Sans"/>
                <a:cs typeface="IBM Plex Sans"/>
                <a:sym typeface="IBM Plex Sans"/>
              </a:rPr>
              <a:t>Are there distinct regional types of gig economies?</a:t>
            </a:r>
          </a:p>
          <a:p>
            <a:pPr marL="0" marR="0" lvl="0" indent="0" algn="l" rtl="0">
              <a:lnSpc>
                <a:spcPct val="159375"/>
              </a:lnSpc>
              <a:spcBef>
                <a:spcPts val="0"/>
              </a:spcBef>
              <a:spcAft>
                <a:spcPts val="0"/>
              </a:spcAft>
              <a:buClr>
                <a:srgbClr val="666666"/>
              </a:buClr>
              <a:buSzPts val="1600"/>
              <a:buFont typeface="IBM Plex Sans"/>
              <a:buNone/>
            </a:pPr>
            <a:r>
              <a:rPr lang="en-US" sz="1800" b="0" i="0" u="none" strike="noStrike" cap="none" dirty="0">
                <a:solidFill>
                  <a:srgbClr val="666666"/>
                </a:solidFill>
                <a:latin typeface="IBM Plex Sans"/>
                <a:ea typeface="IBM Plex Sans"/>
                <a:cs typeface="IBM Plex Sans"/>
                <a:sym typeface="IBM Plex Sans"/>
              </a:rPr>
              <a:t>Can counties be grouped into meaningful categories such as high-revenue gig hubs, low-income gig dependent areas, or emerging markets-based on gig density, revenue, and living costs?</a:t>
            </a:r>
            <a:endParaRPr sz="1800" b="0" i="0" u="none" strike="noStrike" cap="none" dirty="0"/>
          </a:p>
        </p:txBody>
      </p:sp>
      <p:sp>
        <p:nvSpPr>
          <p:cNvPr id="113" name="Google Shape;113;p26"/>
          <p:cNvSpPr/>
          <p:nvPr/>
        </p:nvSpPr>
        <p:spPr>
          <a:xfrm>
            <a:off x="793782" y="6154104"/>
            <a:ext cx="13042821" cy="653415"/>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666666"/>
              </a:buClr>
              <a:buSzPts val="1600"/>
              <a:buFont typeface="IBM Plex Sans"/>
              <a:buNone/>
            </a:pPr>
            <a:r>
              <a:rPr lang="en-US" sz="1800" b="1" i="0" u="none" strike="noStrike" cap="none" dirty="0">
                <a:solidFill>
                  <a:srgbClr val="666666"/>
                </a:solidFill>
                <a:latin typeface="IBM Plex Sans"/>
                <a:ea typeface="IBM Plex Sans"/>
                <a:cs typeface="IBM Plex Sans"/>
                <a:sym typeface="IBM Plex Sans"/>
              </a:rPr>
              <a:t>What do current patterns suggest about the future of gig work?</a:t>
            </a:r>
          </a:p>
          <a:p>
            <a:pPr marL="0" marR="0" lvl="0" indent="0" algn="l" rtl="0">
              <a:lnSpc>
                <a:spcPct val="159375"/>
              </a:lnSpc>
              <a:spcBef>
                <a:spcPts val="0"/>
              </a:spcBef>
              <a:spcAft>
                <a:spcPts val="0"/>
              </a:spcAft>
              <a:buClr>
                <a:srgbClr val="666666"/>
              </a:buClr>
              <a:buSzPts val="1600"/>
              <a:buFont typeface="IBM Plex Sans"/>
              <a:buNone/>
            </a:pPr>
            <a:r>
              <a:rPr lang="en-US" sz="1800" b="0" i="0" u="none" strike="noStrike" cap="none" dirty="0">
                <a:solidFill>
                  <a:srgbClr val="666666"/>
                </a:solidFill>
                <a:latin typeface="IBM Plex Sans"/>
                <a:ea typeface="IBM Plex Sans"/>
                <a:cs typeface="IBM Plex Sans"/>
                <a:sym typeface="IBM Plex Sans"/>
              </a:rPr>
              <a:t>Do trends in nonemployer activity and receipts indicate growth, stagnation, or increasing inequality within the gig economy?</a:t>
            </a:r>
            <a:endParaRPr sz="1800" b="0" i="0" u="none" strike="noStrike" cap="none" dirty="0"/>
          </a:p>
        </p:txBody>
      </p:sp>
      <p:sp>
        <p:nvSpPr>
          <p:cNvPr id="114" name="Google Shape;114;p26"/>
          <p:cNvSpPr/>
          <p:nvPr/>
        </p:nvSpPr>
        <p:spPr>
          <a:xfrm>
            <a:off x="793782" y="7146609"/>
            <a:ext cx="13042821" cy="653415"/>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666666"/>
              </a:buClr>
              <a:buSzPts val="1600"/>
              <a:buFont typeface="IBM Plex Sans"/>
              <a:buNone/>
            </a:pPr>
            <a:r>
              <a:rPr lang="en-US" sz="1800" b="0" i="0" u="none" strike="noStrike" cap="none" dirty="0">
                <a:solidFill>
                  <a:srgbClr val="666666"/>
                </a:solidFill>
                <a:latin typeface="IBM Plex Sans"/>
                <a:ea typeface="IBM Plex Sans"/>
                <a:cs typeface="IBM Plex Sans"/>
                <a:sym typeface="IBM Plex Sans"/>
              </a:rPr>
              <a:t>Each subsequent dashboard and visualization in this story directly addresses one or more of these questions, building a cohesive, data-driven narrative about the sustainability and structure of gig work in the United States.</a:t>
            </a:r>
            <a:endParaRPr sz="1800" b="0" i="0" u="none" strike="noStrike" cap="non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27"/>
          <p:cNvSpPr/>
          <p:nvPr/>
        </p:nvSpPr>
        <p:spPr>
          <a:xfrm>
            <a:off x="1460311" y="169959"/>
            <a:ext cx="12665122" cy="635749"/>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F6FF3"/>
              </a:buClr>
              <a:buSzPts val="2300"/>
              <a:buFont typeface="Outfit"/>
              <a:buNone/>
            </a:pPr>
            <a:r>
              <a:rPr lang="en-US" sz="3200" b="0" i="0" u="none" strike="noStrike" cap="none" dirty="0">
                <a:solidFill>
                  <a:srgbClr val="3F6FF3"/>
                </a:solidFill>
                <a:latin typeface="Outfit"/>
                <a:ea typeface="Outfit"/>
                <a:cs typeface="Outfit"/>
                <a:sym typeface="Outfit"/>
              </a:rPr>
              <a:t>County Gig Landscape: "Where Independent Work Is Concentrated"</a:t>
            </a:r>
            <a:endParaRPr sz="3200" b="0" i="0" u="none" strike="noStrike" cap="none" dirty="0"/>
          </a:p>
        </p:txBody>
      </p:sp>
      <p:pic>
        <p:nvPicPr>
          <p:cNvPr id="122" name="Google Shape;122;p27" descr="preencoded.png"/>
          <p:cNvPicPr preferRelativeResize="0"/>
          <p:nvPr/>
        </p:nvPicPr>
        <p:blipFill rotWithShape="1">
          <a:blip r:embed="rId3">
            <a:alphaModFix/>
          </a:blip>
          <a:srcRect/>
          <a:stretch/>
        </p:blipFill>
        <p:spPr>
          <a:xfrm>
            <a:off x="286603" y="1392072"/>
            <a:ext cx="13557509" cy="5347342"/>
          </a:xfrm>
          <a:prstGeom prst="rect">
            <a:avLst/>
          </a:prstGeom>
          <a:noFill/>
          <a:ln>
            <a:noFill/>
          </a:ln>
        </p:spPr>
      </p:pic>
      <p:sp>
        <p:nvSpPr>
          <p:cNvPr id="123" name="Google Shape;123;p27"/>
          <p:cNvSpPr/>
          <p:nvPr/>
        </p:nvSpPr>
        <p:spPr>
          <a:xfrm>
            <a:off x="9512856" y="1929051"/>
            <a:ext cx="4331256" cy="235744"/>
          </a:xfrm>
          <a:prstGeom prst="rect">
            <a:avLst/>
          </a:prstGeom>
          <a:noFill/>
          <a:ln>
            <a:noFill/>
          </a:ln>
        </p:spPr>
        <p:txBody>
          <a:bodyPr spcFirstLastPara="1" wrap="square" lIns="0" tIns="0" rIns="0" bIns="0" anchor="t" anchorCtr="0">
            <a:noAutofit/>
          </a:bodyPr>
          <a:lstStyle/>
          <a:p>
            <a:pPr marL="0" marR="0" lvl="0" indent="0" algn="l" rtl="0">
              <a:lnSpc>
                <a:spcPct val="160869"/>
              </a:lnSpc>
              <a:spcBef>
                <a:spcPts val="0"/>
              </a:spcBef>
              <a:spcAft>
                <a:spcPts val="0"/>
              </a:spcAft>
              <a:buSzPts val="1150"/>
              <a:buFont typeface="Arial"/>
              <a:buNone/>
            </a:pPr>
            <a:endParaRPr sz="1150" b="0" i="0" u="none" strike="noStrike" cap="none"/>
          </a:p>
        </p:txBody>
      </p:sp>
      <p:sp>
        <p:nvSpPr>
          <p:cNvPr id="124" name="Google Shape;124;p27"/>
          <p:cNvSpPr/>
          <p:nvPr/>
        </p:nvSpPr>
        <p:spPr>
          <a:xfrm>
            <a:off x="543946" y="6991258"/>
            <a:ext cx="13042821" cy="471488"/>
          </a:xfrm>
          <a:prstGeom prst="rect">
            <a:avLst/>
          </a:prstGeom>
          <a:noFill/>
          <a:ln>
            <a:noFill/>
          </a:ln>
        </p:spPr>
        <p:txBody>
          <a:bodyPr spcFirstLastPara="1" wrap="square" lIns="0" tIns="0" rIns="0" bIns="0" anchor="t" anchorCtr="0">
            <a:noAutofit/>
          </a:bodyPr>
          <a:lstStyle/>
          <a:p>
            <a:pPr marL="0" marR="0" lvl="0" indent="0" algn="l" rtl="0">
              <a:lnSpc>
                <a:spcPct val="160869"/>
              </a:lnSpc>
              <a:spcBef>
                <a:spcPts val="0"/>
              </a:spcBef>
              <a:spcAft>
                <a:spcPts val="0"/>
              </a:spcAft>
              <a:buClr>
                <a:srgbClr val="666666"/>
              </a:buClr>
              <a:buSzPts val="1150"/>
              <a:buFont typeface="IBM Plex Sans"/>
              <a:buNone/>
            </a:pPr>
            <a:endParaRPr sz="2000" b="0" i="0" u="none" strike="noStrike" cap="none" dirty="0"/>
          </a:p>
        </p:txBody>
      </p:sp>
      <p:sp>
        <p:nvSpPr>
          <p:cNvPr id="2" name="TextBox 1">
            <a:extLst>
              <a:ext uri="{FF2B5EF4-FFF2-40B4-BE49-F238E27FC236}">
                <a16:creationId xmlns:a16="http://schemas.microsoft.com/office/drawing/2014/main" id="{98C6D0FA-C206-12DE-8EC4-B6257DA2B0E5}"/>
              </a:ext>
            </a:extLst>
          </p:cNvPr>
          <p:cNvSpPr txBox="1"/>
          <p:nvPr/>
        </p:nvSpPr>
        <p:spPr>
          <a:xfrm>
            <a:off x="286604" y="6991258"/>
            <a:ext cx="14100910" cy="1200329"/>
          </a:xfrm>
          <a:prstGeom prst="rect">
            <a:avLst/>
          </a:prstGeom>
          <a:noFill/>
        </p:spPr>
        <p:txBody>
          <a:bodyPr wrap="square" rtlCol="0">
            <a:spAutoFit/>
          </a:bodyPr>
          <a:lstStyle/>
          <a:p>
            <a:r>
              <a:rPr lang="en-US" sz="2400" dirty="0">
                <a:solidFill>
                  <a:schemeClr val="accent1">
                    <a:lumMod val="60000"/>
                    <a:lumOff val="40000"/>
                  </a:schemeClr>
                </a:solidFill>
              </a:rPr>
              <a:t>This dashboard examines the geographic distribution of gig workers across U.S. counties, highlighting where independent work is most prevalent and how unevenly it is distributed.</a:t>
            </a:r>
          </a:p>
          <a:p>
            <a:endParaRPr lang="en-US" sz="2400" dirty="0">
              <a:solidFill>
                <a:schemeClr val="accent1">
                  <a:lumMod val="60000"/>
                  <a:lumOff val="4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8" descr="preencoded.png"/>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132" name="Google Shape;132;p28"/>
          <p:cNvSpPr/>
          <p:nvPr/>
        </p:nvSpPr>
        <p:spPr>
          <a:xfrm>
            <a:off x="793790" y="2898577"/>
            <a:ext cx="8098750"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A2B9F9"/>
              </a:buClr>
              <a:buSzPts val="4450"/>
              <a:buFont typeface="Outfit"/>
              <a:buNone/>
            </a:pPr>
            <a:endParaRPr sz="4450" b="0" i="0" u="none" strike="noStrike" cap="none" dirty="0"/>
          </a:p>
        </p:txBody>
      </p:sp>
      <p:sp>
        <p:nvSpPr>
          <p:cNvPr id="133" name="Google Shape;133;p28"/>
          <p:cNvSpPr/>
          <p:nvPr/>
        </p:nvSpPr>
        <p:spPr>
          <a:xfrm>
            <a:off x="684608" y="189392"/>
            <a:ext cx="8909768" cy="566976"/>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A2B9F9"/>
              </a:buClr>
              <a:buSzPts val="3550"/>
              <a:buFont typeface="Outfit"/>
              <a:buNone/>
            </a:pPr>
            <a:r>
              <a:rPr lang="en-US" sz="3200" b="0" i="0" u="none" strike="noStrike" cap="none" dirty="0">
                <a:solidFill>
                  <a:schemeClr val="bg1"/>
                </a:solidFill>
                <a:highlight>
                  <a:srgbClr val="0000FF"/>
                </a:highlight>
                <a:latin typeface="Outfit"/>
                <a:ea typeface="Outfit"/>
                <a:cs typeface="Outfit"/>
                <a:sym typeface="Outfit"/>
              </a:rPr>
              <a:t>Where Is Gig Work Concentrated?</a:t>
            </a:r>
            <a:endParaRPr sz="3200" b="0" i="0" u="none" strike="noStrike" cap="none" dirty="0">
              <a:solidFill>
                <a:schemeClr val="bg1"/>
              </a:solidFill>
              <a:highlight>
                <a:srgbClr val="0000FF"/>
              </a:highlight>
            </a:endParaRPr>
          </a:p>
        </p:txBody>
      </p:sp>
      <p:sp>
        <p:nvSpPr>
          <p:cNvPr id="134" name="Google Shape;134;p28"/>
          <p:cNvSpPr/>
          <p:nvPr/>
        </p:nvSpPr>
        <p:spPr>
          <a:xfrm>
            <a:off x="719837" y="6488609"/>
            <a:ext cx="13042821"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8F8F8F"/>
              </a:buClr>
              <a:buSzPts val="1750"/>
              <a:buFont typeface="IBM Plex Sans"/>
              <a:buNone/>
            </a:pPr>
            <a:endParaRPr sz="1750" b="0" i="0" u="none" strike="noStrike" cap="none" dirty="0"/>
          </a:p>
        </p:txBody>
      </p:sp>
      <p:sp>
        <p:nvSpPr>
          <p:cNvPr id="3" name="TextBox 2">
            <a:extLst>
              <a:ext uri="{FF2B5EF4-FFF2-40B4-BE49-F238E27FC236}">
                <a16:creationId xmlns:a16="http://schemas.microsoft.com/office/drawing/2014/main" id="{9281C314-FB4B-D37F-F562-79AB3D9091F0}"/>
              </a:ext>
            </a:extLst>
          </p:cNvPr>
          <p:cNvSpPr txBox="1"/>
          <p:nvPr/>
        </p:nvSpPr>
        <p:spPr>
          <a:xfrm>
            <a:off x="167426" y="6954592"/>
            <a:ext cx="14205398" cy="1200329"/>
          </a:xfrm>
          <a:prstGeom prst="rect">
            <a:avLst/>
          </a:prstGeom>
          <a:noFill/>
        </p:spPr>
        <p:txBody>
          <a:bodyPr wrap="square" rtlCol="0">
            <a:spAutoFit/>
          </a:bodyPr>
          <a:lstStyle/>
          <a:p>
            <a:r>
              <a:rPr lang="en-US" sz="2400" dirty="0">
                <a:solidFill>
                  <a:schemeClr val="accent1">
                    <a:lumMod val="60000"/>
                    <a:lumOff val="40000"/>
                  </a:schemeClr>
                </a:solidFill>
              </a:rPr>
              <a:t>Gig worker density varies widely across counties, with distinct geographic clustering and a small number of regions exhibiting exceptionally high concentrations of independent work.</a:t>
            </a:r>
          </a:p>
          <a:p>
            <a:endParaRPr lang="en-US" sz="2400" dirty="0">
              <a:solidFill>
                <a:schemeClr val="accent1">
                  <a:lumMod val="60000"/>
                  <a:lumOff val="4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9" descr="preencoded.png"/>
          <p:cNvPicPr preferRelativeResize="0"/>
          <p:nvPr/>
        </p:nvPicPr>
        <p:blipFill rotWithShape="1">
          <a:blip r:embed="rId3">
            <a:alphaModFix/>
          </a:blip>
          <a:srcRect/>
          <a:stretch/>
        </p:blipFill>
        <p:spPr>
          <a:xfrm>
            <a:off x="3898823" y="0"/>
            <a:ext cx="10731577" cy="8229600"/>
          </a:xfrm>
          <a:prstGeom prst="rect">
            <a:avLst/>
          </a:prstGeom>
          <a:noFill/>
          <a:ln>
            <a:noFill/>
          </a:ln>
        </p:spPr>
      </p:pic>
      <p:sp>
        <p:nvSpPr>
          <p:cNvPr id="141" name="Google Shape;141;p29"/>
          <p:cNvSpPr/>
          <p:nvPr/>
        </p:nvSpPr>
        <p:spPr>
          <a:xfrm>
            <a:off x="793790" y="2155746"/>
            <a:ext cx="3898821" cy="2126337"/>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F6FF3"/>
              </a:buClr>
              <a:buSzPts val="4450"/>
              <a:buFont typeface="Outfit"/>
              <a:buNone/>
            </a:pPr>
            <a:endParaRPr sz="4450" b="0" i="0" u="none" strike="noStrike" cap="none" dirty="0"/>
          </a:p>
        </p:txBody>
      </p:sp>
      <p:sp>
        <p:nvSpPr>
          <p:cNvPr id="142" name="Google Shape;142;p29"/>
          <p:cNvSpPr/>
          <p:nvPr/>
        </p:nvSpPr>
        <p:spPr>
          <a:xfrm>
            <a:off x="1" y="463639"/>
            <a:ext cx="3898822" cy="5610215"/>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A small set of counties accounts for the highest levels of gig worker concentration, far exceeding national norms and driving much of the observed variation.</a:t>
            </a:r>
            <a:endParaRPr lang="en-US" sz="2400" dirty="0">
              <a:solidFill>
                <a:schemeClr val="accent1">
                  <a:lumMod val="60000"/>
                  <a:lumOff val="40000"/>
                </a:schemeClr>
              </a:solidFill>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30" descr="preencoded.png"/>
          <p:cNvPicPr preferRelativeResize="0"/>
          <p:nvPr/>
        </p:nvPicPr>
        <p:blipFill rotWithShape="1">
          <a:blip r:embed="rId3">
            <a:alphaModFix/>
          </a:blip>
          <a:srcRect/>
          <a:stretch/>
        </p:blipFill>
        <p:spPr>
          <a:xfrm>
            <a:off x="4790941" y="0"/>
            <a:ext cx="9839459" cy="8229600"/>
          </a:xfrm>
          <a:prstGeom prst="rect">
            <a:avLst/>
          </a:prstGeom>
          <a:noFill/>
          <a:ln>
            <a:noFill/>
          </a:ln>
        </p:spPr>
      </p:pic>
      <p:sp>
        <p:nvSpPr>
          <p:cNvPr id="149" name="Google Shape;149;p30"/>
          <p:cNvSpPr/>
          <p:nvPr/>
        </p:nvSpPr>
        <p:spPr>
          <a:xfrm>
            <a:off x="793790" y="691039"/>
            <a:ext cx="3898821" cy="1807369"/>
          </a:xfrm>
          <a:prstGeom prst="rect">
            <a:avLst/>
          </a:prstGeom>
          <a:noFill/>
          <a:ln>
            <a:noFill/>
          </a:ln>
        </p:spPr>
        <p:txBody>
          <a:bodyPr spcFirstLastPara="1" wrap="square" lIns="0" tIns="0" rIns="0" bIns="0" anchor="t" anchorCtr="0">
            <a:noAutofit/>
          </a:bodyPr>
          <a:lstStyle/>
          <a:p>
            <a:pPr marL="0" marR="0" lvl="0" indent="0" algn="l" rtl="0">
              <a:lnSpc>
                <a:spcPct val="125333"/>
              </a:lnSpc>
              <a:spcBef>
                <a:spcPts val="0"/>
              </a:spcBef>
              <a:spcAft>
                <a:spcPts val="0"/>
              </a:spcAft>
              <a:buClr>
                <a:srgbClr val="3F6FF3"/>
              </a:buClr>
              <a:buSzPts val="3750"/>
              <a:buFont typeface="Outfit"/>
              <a:buNone/>
            </a:pPr>
            <a:endParaRPr sz="3750" b="0" i="0" u="none" strike="noStrike" cap="none" dirty="0"/>
          </a:p>
        </p:txBody>
      </p:sp>
      <p:sp>
        <p:nvSpPr>
          <p:cNvPr id="150" name="Google Shape;150;p30"/>
          <p:cNvSpPr/>
          <p:nvPr/>
        </p:nvSpPr>
        <p:spPr>
          <a:xfrm>
            <a:off x="0" y="940158"/>
            <a:ext cx="4692611" cy="3389311"/>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The distribution of gig density is highly right-skewed: most counties have relatively low gig activity, while a few extreme outliers dominate the upper tail.</a:t>
            </a:r>
            <a:endParaRPr lang="en-US" sz="2400" dirty="0">
              <a:solidFill>
                <a:schemeClr val="accent1">
                  <a:lumMod val="60000"/>
                  <a:lumOff val="40000"/>
                </a:schemeClr>
              </a:solidFill>
              <a:effectLst/>
            </a:endParaRPr>
          </a:p>
        </p:txBody>
      </p:sp>
      <p:sp>
        <p:nvSpPr>
          <p:cNvPr id="151" name="Google Shape;151;p30"/>
          <p:cNvSpPr/>
          <p:nvPr/>
        </p:nvSpPr>
        <p:spPr>
          <a:xfrm>
            <a:off x="793790" y="4546283"/>
            <a:ext cx="3898821" cy="1233487"/>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500"/>
              <a:buFont typeface="IBM Plex Sans"/>
              <a:buNone/>
            </a:pPr>
            <a:endParaRPr sz="1500" b="0" i="0" u="none" strike="noStrike" cap="none" dirty="0"/>
          </a:p>
        </p:txBody>
      </p:sp>
      <p:sp>
        <p:nvSpPr>
          <p:cNvPr id="152" name="Google Shape;152;p30"/>
          <p:cNvSpPr/>
          <p:nvPr/>
        </p:nvSpPr>
        <p:spPr>
          <a:xfrm>
            <a:off x="793790" y="5996583"/>
            <a:ext cx="3898821" cy="1541859"/>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500"/>
              <a:buFont typeface="IBM Plex Sans"/>
              <a:buNone/>
            </a:pPr>
            <a:endParaRPr sz="1500" b="0" i="0" u="none" strike="noStrike" cap="non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1"/>
          <p:cNvSpPr/>
          <p:nvPr/>
        </p:nvSpPr>
        <p:spPr>
          <a:xfrm>
            <a:off x="0" y="782398"/>
            <a:ext cx="5263634" cy="460772"/>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Higher household income does not consistently correspond to higher gig density, suggesting that gig work concentration reflects structural and regional factors beyond income alone.</a:t>
            </a:r>
            <a:endParaRPr lang="en-US" sz="2400" dirty="0">
              <a:solidFill>
                <a:schemeClr val="accent1">
                  <a:lumMod val="60000"/>
                  <a:lumOff val="40000"/>
                </a:schemeClr>
              </a:solidFill>
              <a:effectLst/>
            </a:endParaRPr>
          </a:p>
        </p:txBody>
      </p:sp>
      <p:pic>
        <p:nvPicPr>
          <p:cNvPr id="159" name="Google Shape;159;p31" descr="preencoded.png"/>
          <p:cNvPicPr preferRelativeResize="0"/>
          <p:nvPr/>
        </p:nvPicPr>
        <p:blipFill rotWithShape="1">
          <a:blip r:embed="rId3">
            <a:alphaModFix/>
          </a:blip>
          <a:srcRect/>
          <a:stretch/>
        </p:blipFill>
        <p:spPr>
          <a:xfrm>
            <a:off x="5263633" y="0"/>
            <a:ext cx="8993279" cy="804929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32" descr="preencoded.png"/>
          <p:cNvPicPr preferRelativeResize="0"/>
          <p:nvPr/>
        </p:nvPicPr>
        <p:blipFill rotWithShape="1">
          <a:blip r:embed="rId3">
            <a:alphaModFix/>
          </a:blip>
          <a:srcRect/>
          <a:stretch/>
        </p:blipFill>
        <p:spPr>
          <a:xfrm>
            <a:off x="3898821" y="0"/>
            <a:ext cx="10731579" cy="8229600"/>
          </a:xfrm>
          <a:prstGeom prst="rect">
            <a:avLst/>
          </a:prstGeom>
          <a:noFill/>
          <a:ln>
            <a:noFill/>
          </a:ln>
        </p:spPr>
      </p:pic>
      <p:sp>
        <p:nvSpPr>
          <p:cNvPr id="166" name="Google Shape;166;p32"/>
          <p:cNvSpPr/>
          <p:nvPr/>
        </p:nvSpPr>
        <p:spPr>
          <a:xfrm>
            <a:off x="0" y="642575"/>
            <a:ext cx="3898821" cy="2126337"/>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This dashboard explores whether gig work is associated with economic opportunity or economic stress by examining income levels, nonemployer earnings, and economic sufficiency.</a:t>
            </a:r>
            <a:endParaRPr lang="en-US" sz="2400" dirty="0">
              <a:solidFill>
                <a:schemeClr val="accent1">
                  <a:lumMod val="60000"/>
                  <a:lumOff val="40000"/>
                </a:schemeClr>
              </a:solidFill>
              <a:effectLst/>
            </a:endParaRPr>
          </a:p>
        </p:txBody>
      </p:sp>
      <p:sp>
        <p:nvSpPr>
          <p:cNvPr id="167" name="Google Shape;167;p32"/>
          <p:cNvSpPr/>
          <p:nvPr/>
        </p:nvSpPr>
        <p:spPr>
          <a:xfrm>
            <a:off x="793790" y="3091458"/>
            <a:ext cx="3898821" cy="2834878"/>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3F6FF3"/>
              </a:buClr>
              <a:buSzPts val="3550"/>
              <a:buFont typeface="Outfit"/>
              <a:buNone/>
            </a:pPr>
            <a:endParaRPr sz="3550" b="0" i="0" u="none" strike="noStrike" cap="non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34" descr="preencoded.png"/>
          <p:cNvPicPr preferRelativeResize="0"/>
          <p:nvPr/>
        </p:nvPicPr>
        <p:blipFill rotWithShape="1">
          <a:blip r:embed="rId3">
            <a:alphaModFix/>
          </a:blip>
          <a:srcRect/>
          <a:stretch/>
        </p:blipFill>
        <p:spPr>
          <a:xfrm>
            <a:off x="5679583" y="0"/>
            <a:ext cx="8950817" cy="8229600"/>
          </a:xfrm>
          <a:prstGeom prst="rect">
            <a:avLst/>
          </a:prstGeom>
          <a:noFill/>
          <a:ln>
            <a:noFill/>
          </a:ln>
        </p:spPr>
      </p:pic>
      <p:sp>
        <p:nvSpPr>
          <p:cNvPr id="185" name="Google Shape;185;p34"/>
          <p:cNvSpPr/>
          <p:nvPr/>
        </p:nvSpPr>
        <p:spPr>
          <a:xfrm>
            <a:off x="124088" y="642912"/>
            <a:ext cx="5727621" cy="1417558"/>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Average nonemployer receipts highlight how economically productive gig work is across regions, revealing substantial geographic differences in earnings potential.</a:t>
            </a:r>
            <a:endParaRPr lang="en-US" sz="2400" dirty="0">
              <a:solidFill>
                <a:schemeClr val="accent1">
                  <a:lumMod val="60000"/>
                  <a:lumOff val="40000"/>
                </a:schemeClr>
              </a:solidFill>
              <a:effectLst/>
            </a:endParaRPr>
          </a:p>
        </p:txBody>
      </p:sp>
      <p:sp>
        <p:nvSpPr>
          <p:cNvPr id="186" name="Google Shape;186;p34"/>
          <p:cNvSpPr/>
          <p:nvPr/>
        </p:nvSpPr>
        <p:spPr>
          <a:xfrm>
            <a:off x="793790" y="4301966"/>
            <a:ext cx="5727621" cy="1133951"/>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3F6FF3"/>
              </a:buClr>
              <a:buSzPts val="3550"/>
              <a:buFont typeface="Outfit"/>
              <a:buNone/>
            </a:pPr>
            <a:endParaRPr sz="3550" b="0" i="0" u="none" strike="noStrike" cap="none"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5"/>
          <p:cNvSpPr/>
          <p:nvPr/>
        </p:nvSpPr>
        <p:spPr>
          <a:xfrm>
            <a:off x="227120" y="6269355"/>
            <a:ext cx="5263634" cy="460772"/>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Counties with higher household incomes tend to exhibit higher nonemployer receipts, indicating that local economic strength influences gig earnings capacity.</a:t>
            </a:r>
            <a:endParaRPr lang="en-US" sz="2400" dirty="0">
              <a:solidFill>
                <a:schemeClr val="accent1">
                  <a:lumMod val="60000"/>
                  <a:lumOff val="40000"/>
                </a:schemeClr>
              </a:solidFill>
              <a:effectLst/>
            </a:endParaRPr>
          </a:p>
        </p:txBody>
      </p:sp>
      <p:pic>
        <p:nvPicPr>
          <p:cNvPr id="193" name="Google Shape;193;p35" descr="preencoded.png"/>
          <p:cNvPicPr preferRelativeResize="0"/>
          <p:nvPr/>
        </p:nvPicPr>
        <p:blipFill rotWithShape="1">
          <a:blip r:embed="rId3">
            <a:alphaModFix/>
          </a:blip>
          <a:srcRect/>
          <a:stretch/>
        </p:blipFill>
        <p:spPr>
          <a:xfrm>
            <a:off x="1" y="128790"/>
            <a:ext cx="7006106" cy="5975796"/>
          </a:xfrm>
          <a:prstGeom prst="rect">
            <a:avLst/>
          </a:prstGeom>
          <a:noFill/>
          <a:ln>
            <a:noFill/>
          </a:ln>
        </p:spPr>
      </p:pic>
      <p:pic>
        <p:nvPicPr>
          <p:cNvPr id="194" name="Google Shape;194;p35" descr="preencoded.png"/>
          <p:cNvPicPr preferRelativeResize="0"/>
          <p:nvPr/>
        </p:nvPicPr>
        <p:blipFill rotWithShape="1">
          <a:blip r:embed="rId4">
            <a:alphaModFix/>
          </a:blip>
          <a:srcRect/>
          <a:stretch/>
        </p:blipFill>
        <p:spPr>
          <a:xfrm>
            <a:off x="7006107" y="128790"/>
            <a:ext cx="7624292" cy="6140565"/>
          </a:xfrm>
          <a:prstGeom prst="rect">
            <a:avLst/>
          </a:prstGeom>
          <a:noFill/>
          <a:ln>
            <a:noFill/>
          </a:ln>
        </p:spPr>
      </p:pic>
      <p:sp>
        <p:nvSpPr>
          <p:cNvPr id="2" name="Google Shape;192;p35">
            <a:extLst>
              <a:ext uri="{FF2B5EF4-FFF2-40B4-BE49-F238E27FC236}">
                <a16:creationId xmlns:a16="http://schemas.microsoft.com/office/drawing/2014/main" id="{07E3B8BF-3F39-61FA-EFF3-3165C49F9FBD}"/>
              </a:ext>
            </a:extLst>
          </p:cNvPr>
          <p:cNvSpPr/>
          <p:nvPr/>
        </p:nvSpPr>
        <p:spPr>
          <a:xfrm>
            <a:off x="7315200" y="6269355"/>
            <a:ext cx="5263634" cy="460772"/>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Higher gig density does not uniformly correspond to higher economic sufficiency, suggesting that gig work may reflect both opportunity and financial necessity.</a:t>
            </a:r>
            <a:endParaRPr lang="en-US" sz="2400" dirty="0">
              <a:solidFill>
                <a:schemeClr val="accent1">
                  <a:lumMod val="60000"/>
                  <a:lumOff val="40000"/>
                </a:schemeClr>
              </a:solidFill>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6" descr="preencoded.png"/>
          <p:cNvPicPr preferRelativeResize="0"/>
          <p:nvPr/>
        </p:nvPicPr>
        <p:blipFill rotWithShape="1">
          <a:blip r:embed="rId3">
            <a:alphaModFix/>
          </a:blip>
          <a:srcRect/>
          <a:stretch/>
        </p:blipFill>
        <p:spPr>
          <a:xfrm>
            <a:off x="3898821" y="0"/>
            <a:ext cx="10731579" cy="8229600"/>
          </a:xfrm>
          <a:prstGeom prst="rect">
            <a:avLst/>
          </a:prstGeom>
          <a:noFill/>
          <a:ln>
            <a:noFill/>
          </a:ln>
        </p:spPr>
      </p:pic>
      <p:sp>
        <p:nvSpPr>
          <p:cNvPr id="201" name="Google Shape;201;p36"/>
          <p:cNvSpPr/>
          <p:nvPr/>
        </p:nvSpPr>
        <p:spPr>
          <a:xfrm>
            <a:off x="0" y="276165"/>
            <a:ext cx="3898821" cy="2126337"/>
          </a:xfrm>
          <a:prstGeom prst="rect">
            <a:avLst/>
          </a:prstGeom>
          <a:noFill/>
          <a:ln>
            <a:noFill/>
          </a:ln>
        </p:spPr>
        <p:txBody>
          <a:bodyPr spcFirstLastPara="1" wrap="square" lIns="0" tIns="0" rIns="0" bIns="0" anchor="t" anchorCtr="0">
            <a:noAutofit/>
          </a:bodyPr>
          <a:lstStyle/>
          <a:p>
            <a:pPr>
              <a:lnSpc>
                <a:spcPct val="124719"/>
              </a:lnSpc>
              <a:buClr>
                <a:srgbClr val="3F6FF3"/>
              </a:buClr>
              <a:buSzPts val="4450"/>
            </a:pPr>
            <a:r>
              <a:rPr lang="en-US" sz="2400" dirty="0">
                <a:solidFill>
                  <a:schemeClr val="accent1">
                    <a:lumMod val="60000"/>
                    <a:lumOff val="40000"/>
                  </a:schemeClr>
                </a:solidFill>
              </a:rPr>
              <a:t>Using national survey data, this dashboard profiles independent workers by income, age, and education to better understand who participates in non-employer work.</a:t>
            </a:r>
          </a:p>
          <a:p>
            <a:pPr marL="0" marR="0" lvl="0" indent="0" algn="l" rtl="0">
              <a:lnSpc>
                <a:spcPct val="124719"/>
              </a:lnSpc>
              <a:spcBef>
                <a:spcPts val="0"/>
              </a:spcBef>
              <a:spcAft>
                <a:spcPts val="0"/>
              </a:spcAft>
              <a:buClr>
                <a:srgbClr val="3F6FF3"/>
              </a:buClr>
              <a:buSzPts val="4450"/>
              <a:buFont typeface="Outfit"/>
              <a:buNone/>
            </a:pPr>
            <a:endParaRPr sz="2400" b="0" i="0" u="none" strike="noStrike" cap="none" dirty="0">
              <a:solidFill>
                <a:schemeClr val="accent1">
                  <a:lumMod val="60000"/>
                  <a:lumOff val="40000"/>
                </a:schemeClr>
              </a:solidFill>
            </a:endParaRPr>
          </a:p>
        </p:txBody>
      </p:sp>
      <p:sp>
        <p:nvSpPr>
          <p:cNvPr id="202" name="Google Shape;202;p36"/>
          <p:cNvSpPr/>
          <p:nvPr/>
        </p:nvSpPr>
        <p:spPr>
          <a:xfrm>
            <a:off x="793790" y="3556397"/>
            <a:ext cx="3898821" cy="2267903"/>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3F6FF3"/>
              </a:buClr>
              <a:buSzPts val="3550"/>
              <a:buFont typeface="Outfit"/>
              <a:buNone/>
            </a:pPr>
            <a:endParaRPr sz="3550" b="0" i="0" u="none" strike="noStrike" cap="none" dirty="0"/>
          </a:p>
        </p:txBody>
      </p:sp>
      <p:sp>
        <p:nvSpPr>
          <p:cNvPr id="203" name="Google Shape;203;p36"/>
          <p:cNvSpPr/>
          <p:nvPr/>
        </p:nvSpPr>
        <p:spPr>
          <a:xfrm>
            <a:off x="793790" y="6164461"/>
            <a:ext cx="3898821"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666666"/>
              </a:buClr>
              <a:buSzPts val="1750"/>
              <a:buFont typeface="IBM Plex Sans"/>
              <a:buNone/>
            </a:pPr>
            <a:endParaRPr sz="1750" b="0" i="0" u="none" strike="noStrike" cap="none"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7" descr="preencoded.png"/>
          <p:cNvPicPr preferRelativeResize="0"/>
          <p:nvPr/>
        </p:nvPicPr>
        <p:blipFill rotWithShape="1">
          <a:blip r:embed="rId3">
            <a:alphaModFix/>
          </a:blip>
          <a:srcRect/>
          <a:stretch/>
        </p:blipFill>
        <p:spPr>
          <a:xfrm>
            <a:off x="4095482" y="0"/>
            <a:ext cx="10534918" cy="8229600"/>
          </a:xfrm>
          <a:prstGeom prst="rect">
            <a:avLst/>
          </a:prstGeom>
          <a:noFill/>
          <a:ln>
            <a:noFill/>
          </a:ln>
        </p:spPr>
      </p:pic>
      <p:sp>
        <p:nvSpPr>
          <p:cNvPr id="210" name="Google Shape;210;p37"/>
          <p:cNvSpPr/>
          <p:nvPr/>
        </p:nvSpPr>
        <p:spPr>
          <a:xfrm>
            <a:off x="0" y="456842"/>
            <a:ext cx="3898821" cy="2020253"/>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Independent workers are distributed across the income spectrum, with representation in both lower-income and higher-income households.</a:t>
            </a:r>
            <a:endParaRPr lang="en-US" sz="2400" dirty="0">
              <a:solidFill>
                <a:schemeClr val="accent1">
                  <a:lumMod val="60000"/>
                  <a:lumOff val="40000"/>
                </a:schemeClr>
              </a:solidFill>
              <a:effectLst/>
            </a:endParaRPr>
          </a:p>
        </p:txBody>
      </p:sp>
      <p:sp>
        <p:nvSpPr>
          <p:cNvPr id="211" name="Google Shape;211;p37"/>
          <p:cNvSpPr/>
          <p:nvPr/>
        </p:nvSpPr>
        <p:spPr>
          <a:xfrm>
            <a:off x="793790" y="3096458"/>
            <a:ext cx="3898821" cy="2413635"/>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666666"/>
              </a:buClr>
              <a:buSzPts val="1650"/>
              <a:buFont typeface="IBM Plex Sans"/>
              <a:buNone/>
            </a:pPr>
            <a:endParaRPr sz="1650" b="0" i="0" u="none" strike="noStrike" cap="none" dirty="0"/>
          </a:p>
        </p:txBody>
      </p:sp>
      <p:sp>
        <p:nvSpPr>
          <p:cNvPr id="212" name="Google Shape;212;p37"/>
          <p:cNvSpPr/>
          <p:nvPr/>
        </p:nvSpPr>
        <p:spPr>
          <a:xfrm>
            <a:off x="793790" y="5752505"/>
            <a:ext cx="3898821" cy="1724025"/>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666666"/>
              </a:buClr>
              <a:buSzPts val="1650"/>
              <a:buFont typeface="IBM Plex Sans"/>
              <a:buNone/>
            </a:pPr>
            <a:endParaRPr sz="1650" b="0" i="0" u="none" strike="noStrike" cap="non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8" descr="preencoded.png"/>
          <p:cNvPicPr preferRelativeResize="0"/>
          <p:nvPr/>
        </p:nvPicPr>
        <p:blipFill rotWithShape="1">
          <a:blip r:embed="rId3">
            <a:alphaModFix/>
          </a:blip>
          <a:srcRect/>
          <a:stretch/>
        </p:blipFill>
        <p:spPr>
          <a:xfrm>
            <a:off x="3709115" y="0"/>
            <a:ext cx="10921284" cy="8229600"/>
          </a:xfrm>
          <a:prstGeom prst="rect">
            <a:avLst/>
          </a:prstGeom>
          <a:noFill/>
          <a:ln>
            <a:noFill/>
          </a:ln>
        </p:spPr>
      </p:pic>
      <p:sp>
        <p:nvSpPr>
          <p:cNvPr id="219" name="Google Shape;219;p38"/>
          <p:cNvSpPr/>
          <p:nvPr/>
        </p:nvSpPr>
        <p:spPr>
          <a:xfrm>
            <a:off x="7948613" y="872014"/>
            <a:ext cx="5895499" cy="870823"/>
          </a:xfrm>
          <a:prstGeom prst="rect">
            <a:avLst/>
          </a:prstGeom>
          <a:noFill/>
          <a:ln>
            <a:noFill/>
          </a:ln>
        </p:spPr>
        <p:txBody>
          <a:bodyPr spcFirstLastPara="1" wrap="square" lIns="0" tIns="0" rIns="0" bIns="0" anchor="t" anchorCtr="0">
            <a:noAutofit/>
          </a:bodyPr>
          <a:lstStyle/>
          <a:p>
            <a:pPr marL="0" marR="0" lvl="0" indent="0" algn="l" rtl="0">
              <a:lnSpc>
                <a:spcPct val="160714"/>
              </a:lnSpc>
              <a:spcBef>
                <a:spcPts val="0"/>
              </a:spcBef>
              <a:spcAft>
                <a:spcPts val="0"/>
              </a:spcAft>
              <a:buClr>
                <a:srgbClr val="666666"/>
              </a:buClr>
              <a:buSzPts val="1400"/>
              <a:buFont typeface="IBM Plex Sans"/>
              <a:buNone/>
            </a:pPr>
            <a:endParaRPr sz="1400" b="0" i="0" u="none" strike="noStrike" cap="none" dirty="0"/>
          </a:p>
        </p:txBody>
      </p:sp>
      <p:sp>
        <p:nvSpPr>
          <p:cNvPr id="220" name="Google Shape;220;p38"/>
          <p:cNvSpPr/>
          <p:nvPr/>
        </p:nvSpPr>
        <p:spPr>
          <a:xfrm>
            <a:off x="7948613" y="1906072"/>
            <a:ext cx="5895499" cy="290274"/>
          </a:xfrm>
          <a:prstGeom prst="rect">
            <a:avLst/>
          </a:prstGeom>
          <a:noFill/>
          <a:ln>
            <a:noFill/>
          </a:ln>
        </p:spPr>
        <p:txBody>
          <a:bodyPr spcFirstLastPara="1" wrap="square" lIns="0" tIns="0" rIns="0" bIns="0" anchor="t" anchorCtr="0">
            <a:noAutofit/>
          </a:bodyPr>
          <a:lstStyle/>
          <a:p>
            <a:pPr marL="0" marR="0" lvl="0" indent="0" algn="l" rtl="0">
              <a:lnSpc>
                <a:spcPct val="160714"/>
              </a:lnSpc>
              <a:spcBef>
                <a:spcPts val="0"/>
              </a:spcBef>
              <a:spcAft>
                <a:spcPts val="0"/>
              </a:spcAft>
              <a:buClr>
                <a:srgbClr val="666666"/>
              </a:buClr>
              <a:buSzPts val="1400"/>
              <a:buFont typeface="IBM Plex Sans"/>
              <a:buNone/>
            </a:pPr>
            <a:endParaRPr sz="1400" b="0" i="0" u="none" strike="noStrike" cap="none" dirty="0"/>
          </a:p>
        </p:txBody>
      </p:sp>
      <p:sp>
        <p:nvSpPr>
          <p:cNvPr id="221" name="Google Shape;221;p38"/>
          <p:cNvSpPr/>
          <p:nvPr/>
        </p:nvSpPr>
        <p:spPr>
          <a:xfrm>
            <a:off x="7948613" y="2359581"/>
            <a:ext cx="5895499" cy="1161098"/>
          </a:xfrm>
          <a:prstGeom prst="rect">
            <a:avLst/>
          </a:prstGeom>
          <a:noFill/>
          <a:ln>
            <a:noFill/>
          </a:ln>
        </p:spPr>
        <p:txBody>
          <a:bodyPr spcFirstLastPara="1" wrap="square" lIns="0" tIns="0" rIns="0" bIns="0" anchor="t" anchorCtr="0">
            <a:noAutofit/>
          </a:bodyPr>
          <a:lstStyle/>
          <a:p>
            <a:pPr marL="0" marR="0" lvl="0" indent="0" algn="l" rtl="0">
              <a:lnSpc>
                <a:spcPct val="160714"/>
              </a:lnSpc>
              <a:spcBef>
                <a:spcPts val="0"/>
              </a:spcBef>
              <a:spcAft>
                <a:spcPts val="0"/>
              </a:spcAft>
              <a:buClr>
                <a:srgbClr val="666666"/>
              </a:buClr>
              <a:buSzPts val="1400"/>
              <a:buFont typeface="IBM Plex Sans"/>
              <a:buNone/>
            </a:pPr>
            <a:endParaRPr sz="1400" b="0" i="0" u="none" strike="noStrike" cap="none" dirty="0"/>
          </a:p>
        </p:txBody>
      </p:sp>
      <p:sp>
        <p:nvSpPr>
          <p:cNvPr id="222" name="Google Shape;222;p38"/>
          <p:cNvSpPr/>
          <p:nvPr/>
        </p:nvSpPr>
        <p:spPr>
          <a:xfrm>
            <a:off x="7948613" y="3584138"/>
            <a:ext cx="5895499" cy="870823"/>
          </a:xfrm>
          <a:prstGeom prst="rect">
            <a:avLst/>
          </a:prstGeom>
          <a:noFill/>
          <a:ln>
            <a:noFill/>
          </a:ln>
        </p:spPr>
        <p:txBody>
          <a:bodyPr spcFirstLastPara="1" wrap="square" lIns="0" tIns="0" rIns="0" bIns="0" anchor="t" anchorCtr="0">
            <a:noAutofit/>
          </a:bodyPr>
          <a:lstStyle/>
          <a:p>
            <a:pPr marL="0" marR="0" lvl="0" indent="0" algn="l" rtl="0">
              <a:lnSpc>
                <a:spcPct val="160714"/>
              </a:lnSpc>
              <a:spcBef>
                <a:spcPts val="0"/>
              </a:spcBef>
              <a:spcAft>
                <a:spcPts val="0"/>
              </a:spcAft>
              <a:buClr>
                <a:srgbClr val="666666"/>
              </a:buClr>
              <a:buSzPts val="1400"/>
              <a:buFont typeface="IBM Plex Sans"/>
              <a:buNone/>
            </a:pPr>
            <a:endParaRPr sz="1400" b="0" i="0" u="none" strike="noStrike" cap="none" dirty="0"/>
          </a:p>
        </p:txBody>
      </p:sp>
      <p:sp>
        <p:nvSpPr>
          <p:cNvPr id="223" name="Google Shape;223;p38"/>
          <p:cNvSpPr/>
          <p:nvPr/>
        </p:nvSpPr>
        <p:spPr>
          <a:xfrm>
            <a:off x="7948613" y="4518422"/>
            <a:ext cx="5895499" cy="870823"/>
          </a:xfrm>
          <a:prstGeom prst="rect">
            <a:avLst/>
          </a:prstGeom>
          <a:noFill/>
          <a:ln>
            <a:noFill/>
          </a:ln>
        </p:spPr>
        <p:txBody>
          <a:bodyPr spcFirstLastPara="1" wrap="square" lIns="0" tIns="0" rIns="0" bIns="0" anchor="t" anchorCtr="0">
            <a:noAutofit/>
          </a:bodyPr>
          <a:lstStyle/>
          <a:p>
            <a:pPr marL="0" marR="0" lvl="0" indent="0" algn="l" rtl="0">
              <a:lnSpc>
                <a:spcPct val="160714"/>
              </a:lnSpc>
              <a:spcBef>
                <a:spcPts val="0"/>
              </a:spcBef>
              <a:spcAft>
                <a:spcPts val="0"/>
              </a:spcAft>
              <a:buClr>
                <a:srgbClr val="666666"/>
              </a:buClr>
              <a:buSzPts val="1400"/>
              <a:buFont typeface="IBM Plex Sans"/>
              <a:buNone/>
            </a:pPr>
            <a:endParaRPr sz="1400" b="0" i="0" u="none" strike="noStrike" cap="none" dirty="0"/>
          </a:p>
        </p:txBody>
      </p:sp>
      <p:sp>
        <p:nvSpPr>
          <p:cNvPr id="224" name="Google Shape;224;p38"/>
          <p:cNvSpPr/>
          <p:nvPr/>
        </p:nvSpPr>
        <p:spPr>
          <a:xfrm>
            <a:off x="7948613" y="5452705"/>
            <a:ext cx="5895499" cy="870823"/>
          </a:xfrm>
          <a:prstGeom prst="rect">
            <a:avLst/>
          </a:prstGeom>
          <a:noFill/>
          <a:ln>
            <a:noFill/>
          </a:ln>
        </p:spPr>
        <p:txBody>
          <a:bodyPr spcFirstLastPara="1" wrap="square" lIns="0" tIns="0" rIns="0" bIns="0" anchor="t" anchorCtr="0">
            <a:noAutofit/>
          </a:bodyPr>
          <a:lstStyle/>
          <a:p>
            <a:pPr marL="0" marR="0" lvl="0" indent="0" algn="l" rtl="0">
              <a:lnSpc>
                <a:spcPct val="160714"/>
              </a:lnSpc>
              <a:spcBef>
                <a:spcPts val="0"/>
              </a:spcBef>
              <a:spcAft>
                <a:spcPts val="0"/>
              </a:spcAft>
              <a:buClr>
                <a:srgbClr val="666666"/>
              </a:buClr>
              <a:buSzPts val="1400"/>
              <a:buFont typeface="IBM Plex Sans"/>
              <a:buNone/>
            </a:pPr>
            <a:endParaRPr sz="1400" b="0" i="0" u="none" strike="noStrike" cap="none" dirty="0"/>
          </a:p>
        </p:txBody>
      </p:sp>
      <p:sp>
        <p:nvSpPr>
          <p:cNvPr id="225" name="Google Shape;225;p38"/>
          <p:cNvSpPr/>
          <p:nvPr/>
        </p:nvSpPr>
        <p:spPr>
          <a:xfrm>
            <a:off x="7948613" y="6486763"/>
            <a:ext cx="5895499" cy="870823"/>
          </a:xfrm>
          <a:prstGeom prst="rect">
            <a:avLst/>
          </a:prstGeom>
          <a:noFill/>
          <a:ln>
            <a:noFill/>
          </a:ln>
        </p:spPr>
        <p:txBody>
          <a:bodyPr spcFirstLastPara="1" wrap="square" lIns="0" tIns="0" rIns="0" bIns="0" anchor="t" anchorCtr="0">
            <a:noAutofit/>
          </a:bodyPr>
          <a:lstStyle/>
          <a:p>
            <a:pPr marL="0" marR="0" lvl="0" indent="0" algn="l" rtl="0">
              <a:lnSpc>
                <a:spcPct val="160714"/>
              </a:lnSpc>
              <a:spcBef>
                <a:spcPts val="0"/>
              </a:spcBef>
              <a:spcAft>
                <a:spcPts val="0"/>
              </a:spcAft>
              <a:buClr>
                <a:srgbClr val="666666"/>
              </a:buClr>
              <a:buSzPts val="1400"/>
              <a:buFont typeface="IBM Plex Sans"/>
              <a:buNone/>
            </a:pPr>
            <a:endParaRPr sz="1400" b="0" i="0" u="none" strike="noStrike" cap="none" dirty="0"/>
          </a:p>
        </p:txBody>
      </p:sp>
      <p:sp>
        <p:nvSpPr>
          <p:cNvPr id="2" name="TextBox 1">
            <a:extLst>
              <a:ext uri="{FF2B5EF4-FFF2-40B4-BE49-F238E27FC236}">
                <a16:creationId xmlns:a16="http://schemas.microsoft.com/office/drawing/2014/main" id="{6ADB0CE8-7AE6-46F1-3F28-23336FF47E6A}"/>
              </a:ext>
            </a:extLst>
          </p:cNvPr>
          <p:cNvSpPr txBox="1"/>
          <p:nvPr/>
        </p:nvSpPr>
        <p:spPr>
          <a:xfrm>
            <a:off x="0" y="712381"/>
            <a:ext cx="3709115" cy="2677656"/>
          </a:xfrm>
          <a:prstGeom prst="rect">
            <a:avLst/>
          </a:prstGeom>
          <a:noFill/>
        </p:spPr>
        <p:txBody>
          <a:bodyPr wrap="square" rtlCol="0">
            <a:spAutoFit/>
          </a:bodyPr>
          <a:lstStyle/>
          <a:p>
            <a:r>
              <a:rPr lang="en-US" sz="2400" dirty="0">
                <a:solidFill>
                  <a:schemeClr val="accent1">
                    <a:lumMod val="60000"/>
                    <a:lumOff val="40000"/>
                  </a:schemeClr>
                </a:solidFill>
              </a:rPr>
              <a:t>Income levels vary systematically across age groups, revealing distinct life-stage patterns in independent work participation.</a:t>
            </a:r>
          </a:p>
          <a:p>
            <a:endParaRPr lang="en-US" sz="2400" dirty="0">
              <a:solidFill>
                <a:schemeClr val="accent1">
                  <a:lumMod val="60000"/>
                  <a:lumOff val="4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39" descr="preencoded.png"/>
          <p:cNvPicPr preferRelativeResize="0"/>
          <p:nvPr/>
        </p:nvPicPr>
        <p:blipFill rotWithShape="1">
          <a:blip r:embed="rId3">
            <a:alphaModFix/>
          </a:blip>
          <a:srcRect/>
          <a:stretch/>
        </p:blipFill>
        <p:spPr>
          <a:xfrm>
            <a:off x="4572000" y="296214"/>
            <a:ext cx="10341736" cy="7688687"/>
          </a:xfrm>
          <a:prstGeom prst="rect">
            <a:avLst/>
          </a:prstGeom>
          <a:noFill/>
          <a:ln>
            <a:noFill/>
          </a:ln>
        </p:spPr>
      </p:pic>
      <p:sp>
        <p:nvSpPr>
          <p:cNvPr id="232" name="Google Shape;232;p39"/>
          <p:cNvSpPr/>
          <p:nvPr/>
        </p:nvSpPr>
        <p:spPr>
          <a:xfrm>
            <a:off x="1" y="934402"/>
            <a:ext cx="4687909" cy="3019412"/>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Independent workers exhibit diverse educational backgrounds, with education composition shifting noticeably across income levels.</a:t>
            </a:r>
            <a:endParaRPr lang="en-US" sz="2400" dirty="0">
              <a:solidFill>
                <a:schemeClr val="accent1">
                  <a:lumMod val="60000"/>
                  <a:lumOff val="40000"/>
                </a:schemeClr>
              </a:solidFill>
              <a:effectLst/>
            </a:endParaRPr>
          </a:p>
        </p:txBody>
      </p:sp>
      <p:sp>
        <p:nvSpPr>
          <p:cNvPr id="233" name="Google Shape;233;p39"/>
          <p:cNvSpPr/>
          <p:nvPr/>
        </p:nvSpPr>
        <p:spPr>
          <a:xfrm>
            <a:off x="7514868" y="1918335"/>
            <a:ext cx="6335911" cy="755809"/>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666666"/>
              </a:buClr>
              <a:buSzPts val="1200"/>
              <a:buFont typeface="IBM Plex Sans"/>
              <a:buNone/>
            </a:pPr>
            <a:endParaRPr sz="1200" b="0" i="0" u="none" strike="noStrike" cap="none" dirty="0"/>
          </a:p>
        </p:txBody>
      </p:sp>
      <p:sp>
        <p:nvSpPr>
          <p:cNvPr id="234" name="Google Shape;234;p39"/>
          <p:cNvSpPr/>
          <p:nvPr/>
        </p:nvSpPr>
        <p:spPr>
          <a:xfrm>
            <a:off x="7514868" y="2831544"/>
            <a:ext cx="3149322" cy="393621"/>
          </a:xfrm>
          <a:prstGeom prst="rect">
            <a:avLst/>
          </a:prstGeom>
          <a:noFill/>
          <a:ln>
            <a:noFill/>
          </a:ln>
        </p:spPr>
        <p:txBody>
          <a:bodyPr spcFirstLastPara="1" wrap="square" lIns="0" tIns="0" rIns="0" bIns="0" anchor="t" anchorCtr="0">
            <a:noAutofit/>
          </a:bodyPr>
          <a:lstStyle/>
          <a:p>
            <a:pPr marL="0" marR="0" lvl="0" indent="0" algn="l" rtl="0">
              <a:lnSpc>
                <a:spcPct val="124489"/>
              </a:lnSpc>
              <a:spcBef>
                <a:spcPts val="0"/>
              </a:spcBef>
              <a:spcAft>
                <a:spcPts val="0"/>
              </a:spcAft>
              <a:buClr>
                <a:srgbClr val="3F6FF3"/>
              </a:buClr>
              <a:buSzPts val="2450"/>
              <a:buFont typeface="Outfit"/>
              <a:buNone/>
            </a:pPr>
            <a:endParaRPr sz="2450" b="0" i="0" u="none" strike="noStrike" cap="none" dirty="0"/>
          </a:p>
        </p:txBody>
      </p:sp>
      <p:sp>
        <p:nvSpPr>
          <p:cNvPr id="235" name="Google Shape;235;p39"/>
          <p:cNvSpPr/>
          <p:nvPr/>
        </p:nvSpPr>
        <p:spPr>
          <a:xfrm>
            <a:off x="7514868" y="3382566"/>
            <a:ext cx="6335911" cy="755809"/>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666666"/>
              </a:buClr>
              <a:buSzPts val="1200"/>
              <a:buFont typeface="IBM Plex Sans"/>
              <a:buNone/>
            </a:pPr>
            <a:endParaRPr sz="1200" b="0" i="0" u="none" strike="noStrike" cap="none" dirty="0"/>
          </a:p>
        </p:txBody>
      </p:sp>
      <p:sp>
        <p:nvSpPr>
          <p:cNvPr id="236" name="Google Shape;236;p39"/>
          <p:cNvSpPr/>
          <p:nvPr/>
        </p:nvSpPr>
        <p:spPr>
          <a:xfrm>
            <a:off x="7514868" y="4193381"/>
            <a:ext cx="6335911" cy="755809"/>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666666"/>
              </a:buClr>
              <a:buSzPts val="1200"/>
              <a:buFont typeface="IBM Plex Sans"/>
              <a:buNone/>
            </a:pPr>
            <a:endParaRPr sz="1200" b="0" i="0" u="none" strike="noStrike" cap="none" dirty="0"/>
          </a:p>
        </p:txBody>
      </p:sp>
      <p:sp>
        <p:nvSpPr>
          <p:cNvPr id="237" name="Google Shape;237;p39"/>
          <p:cNvSpPr/>
          <p:nvPr/>
        </p:nvSpPr>
        <p:spPr>
          <a:xfrm>
            <a:off x="7514868" y="5004197"/>
            <a:ext cx="6335911" cy="755809"/>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666666"/>
              </a:buClr>
              <a:buSzPts val="1200"/>
              <a:buFont typeface="IBM Plex Sans"/>
              <a:buNone/>
            </a:pPr>
            <a:endParaRPr sz="1200" b="0" i="0" u="none" strike="noStrike" cap="none" dirty="0"/>
          </a:p>
        </p:txBody>
      </p:sp>
      <p:sp>
        <p:nvSpPr>
          <p:cNvPr id="238" name="Google Shape;238;p39"/>
          <p:cNvSpPr/>
          <p:nvPr/>
        </p:nvSpPr>
        <p:spPr>
          <a:xfrm>
            <a:off x="7514868" y="5815013"/>
            <a:ext cx="6335911" cy="755809"/>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666666"/>
              </a:buClr>
              <a:buSzPts val="1200"/>
              <a:buFont typeface="IBM Plex Sans"/>
              <a:buNone/>
            </a:pPr>
            <a:endParaRPr sz="1200" b="0" i="0" u="none" strike="noStrike" cap="none" dirty="0"/>
          </a:p>
        </p:txBody>
      </p:sp>
      <p:sp>
        <p:nvSpPr>
          <p:cNvPr id="239" name="Google Shape;239;p39"/>
          <p:cNvSpPr/>
          <p:nvPr/>
        </p:nvSpPr>
        <p:spPr>
          <a:xfrm>
            <a:off x="7514868" y="6712506"/>
            <a:ext cx="6335911" cy="755809"/>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666666"/>
              </a:buClr>
              <a:buSzPts val="1200"/>
              <a:buFont typeface="IBM Plex Sans"/>
              <a:buNone/>
            </a:pPr>
            <a:endParaRPr sz="1200" b="0" i="0" u="none" strike="noStrike" cap="none"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40" descr="preencoded.png"/>
          <p:cNvPicPr preferRelativeResize="0"/>
          <p:nvPr/>
        </p:nvPicPr>
        <p:blipFill rotWithShape="1">
          <a:blip r:embed="rId3">
            <a:alphaModFix/>
          </a:blip>
          <a:srcRect/>
          <a:stretch/>
        </p:blipFill>
        <p:spPr>
          <a:xfrm>
            <a:off x="4275787" y="90152"/>
            <a:ext cx="10238704" cy="8139448"/>
          </a:xfrm>
          <a:prstGeom prst="rect">
            <a:avLst/>
          </a:prstGeom>
          <a:noFill/>
          <a:ln>
            <a:noFill/>
          </a:ln>
        </p:spPr>
      </p:pic>
      <p:sp>
        <p:nvSpPr>
          <p:cNvPr id="246" name="Google Shape;246;p40"/>
          <p:cNvSpPr/>
          <p:nvPr/>
        </p:nvSpPr>
        <p:spPr>
          <a:xfrm>
            <a:off x="0" y="1034415"/>
            <a:ext cx="4275786" cy="3215613"/>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Gig work participation peaks among mid-career age groups, indicating that independent work functions primarily as a core labor strategy rather than a short-term or retirement activity.</a:t>
            </a:r>
            <a:endParaRPr lang="en-US" sz="2400" dirty="0">
              <a:solidFill>
                <a:schemeClr val="accent1">
                  <a:lumMod val="60000"/>
                  <a:lumOff val="40000"/>
                </a:schemeClr>
              </a:solidFill>
              <a:effectLst/>
            </a:endParaRPr>
          </a:p>
        </p:txBody>
      </p:sp>
      <p:sp>
        <p:nvSpPr>
          <p:cNvPr id="247" name="Google Shape;247;p40"/>
          <p:cNvSpPr/>
          <p:nvPr/>
        </p:nvSpPr>
        <p:spPr>
          <a:xfrm>
            <a:off x="7650599" y="2026682"/>
            <a:ext cx="6193512" cy="508159"/>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250"/>
              <a:buFont typeface="IBM Plex Sans"/>
              <a:buNone/>
            </a:pPr>
            <a:endParaRPr sz="1250" b="0" i="0" u="none" strike="noStrike" cap="none" dirty="0"/>
          </a:p>
        </p:txBody>
      </p:sp>
      <p:sp>
        <p:nvSpPr>
          <p:cNvPr id="248" name="Google Shape;248;p40"/>
          <p:cNvSpPr/>
          <p:nvPr/>
        </p:nvSpPr>
        <p:spPr>
          <a:xfrm>
            <a:off x="7650599" y="2693551"/>
            <a:ext cx="3175516" cy="396835"/>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3F6FF3"/>
              </a:buClr>
              <a:buSzPts val="2500"/>
              <a:buFont typeface="Outfit"/>
              <a:buNone/>
            </a:pPr>
            <a:endParaRPr sz="2500" b="0" i="0" u="none" strike="noStrike" cap="none" dirty="0"/>
          </a:p>
        </p:txBody>
      </p:sp>
      <p:sp>
        <p:nvSpPr>
          <p:cNvPr id="249" name="Google Shape;249;p40"/>
          <p:cNvSpPr/>
          <p:nvPr/>
        </p:nvSpPr>
        <p:spPr>
          <a:xfrm>
            <a:off x="7650599" y="3249097"/>
            <a:ext cx="6193512" cy="762238"/>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250"/>
              <a:buFont typeface="IBM Plex Sans"/>
              <a:buNone/>
            </a:pPr>
            <a:endParaRPr sz="1250" b="0" i="0" u="none" strike="noStrike" cap="none" dirty="0"/>
          </a:p>
        </p:txBody>
      </p:sp>
      <p:sp>
        <p:nvSpPr>
          <p:cNvPr id="250" name="Google Shape;250;p40"/>
          <p:cNvSpPr/>
          <p:nvPr/>
        </p:nvSpPr>
        <p:spPr>
          <a:xfrm>
            <a:off x="7650599" y="4066818"/>
            <a:ext cx="6193512" cy="1016318"/>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250"/>
              <a:buFont typeface="IBM Plex Sans"/>
              <a:buNone/>
            </a:pPr>
            <a:endParaRPr sz="1250" b="0" i="0" u="none" strike="noStrike" cap="none" dirty="0"/>
          </a:p>
        </p:txBody>
      </p:sp>
      <p:sp>
        <p:nvSpPr>
          <p:cNvPr id="251" name="Google Shape;251;p40"/>
          <p:cNvSpPr/>
          <p:nvPr/>
        </p:nvSpPr>
        <p:spPr>
          <a:xfrm>
            <a:off x="7650599" y="5138618"/>
            <a:ext cx="6193512" cy="762238"/>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250"/>
              <a:buFont typeface="IBM Plex Sans"/>
              <a:buNone/>
            </a:pPr>
            <a:endParaRPr sz="1250" b="0" i="0" u="none" strike="noStrike" cap="none" dirty="0"/>
          </a:p>
        </p:txBody>
      </p:sp>
      <p:sp>
        <p:nvSpPr>
          <p:cNvPr id="252" name="Google Shape;252;p40"/>
          <p:cNvSpPr/>
          <p:nvPr/>
        </p:nvSpPr>
        <p:spPr>
          <a:xfrm>
            <a:off x="7650599" y="5956340"/>
            <a:ext cx="6193512" cy="762238"/>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250"/>
              <a:buFont typeface="IBM Plex Sans"/>
              <a:buNone/>
            </a:pPr>
            <a:endParaRPr sz="1250" b="0" i="0" u="none" strike="noStrike" cap="none" dirty="0"/>
          </a:p>
        </p:txBody>
      </p:sp>
      <p:sp>
        <p:nvSpPr>
          <p:cNvPr id="253" name="Google Shape;253;p40"/>
          <p:cNvSpPr/>
          <p:nvPr/>
        </p:nvSpPr>
        <p:spPr>
          <a:xfrm>
            <a:off x="7650599" y="6861453"/>
            <a:ext cx="6193512" cy="508159"/>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666666"/>
              </a:buClr>
              <a:buSzPts val="1250"/>
              <a:buFont typeface="IBM Plex Sans"/>
              <a:buNone/>
            </a:pPr>
            <a:endParaRPr sz="1250" b="0" i="0" u="none" strike="noStrike" cap="none"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41" descr="preencoded.png"/>
          <p:cNvPicPr preferRelativeResize="0"/>
          <p:nvPr/>
        </p:nvPicPr>
        <p:blipFill rotWithShape="1">
          <a:blip r:embed="rId3">
            <a:alphaModFix/>
          </a:blip>
          <a:srcRect/>
          <a:stretch/>
        </p:blipFill>
        <p:spPr>
          <a:xfrm>
            <a:off x="3898821" y="0"/>
            <a:ext cx="10731579" cy="8229600"/>
          </a:xfrm>
          <a:prstGeom prst="rect">
            <a:avLst/>
          </a:prstGeom>
          <a:noFill/>
          <a:ln>
            <a:noFill/>
          </a:ln>
        </p:spPr>
      </p:pic>
      <p:sp>
        <p:nvSpPr>
          <p:cNvPr id="260" name="Google Shape;260;p41"/>
          <p:cNvSpPr/>
          <p:nvPr/>
        </p:nvSpPr>
        <p:spPr>
          <a:xfrm>
            <a:off x="0" y="745066"/>
            <a:ext cx="3898821" cy="2126337"/>
          </a:xfrm>
          <a:prstGeom prst="rect">
            <a:avLst/>
          </a:prstGeom>
          <a:noFill/>
          <a:ln>
            <a:noFill/>
          </a:ln>
        </p:spPr>
        <p:txBody>
          <a:bodyPr spcFirstLastPara="1" wrap="square" lIns="0" tIns="0" rIns="0" bIns="0" anchor="t" anchorCtr="0">
            <a:noAutofit/>
          </a:bodyPr>
          <a:lstStyle/>
          <a:p>
            <a:r>
              <a:rPr lang="en-US" sz="2400" dirty="0">
                <a:solidFill>
                  <a:schemeClr val="accent1">
                    <a:lumMod val="60000"/>
                    <a:lumOff val="40000"/>
                  </a:schemeClr>
                </a:solidFill>
              </a:rPr>
              <a:t>Educational attainment among independent workers rises sharply with income, indicating that higher-earning segments of the gig economy are more strongly linked to formal education, while lower-income segments face structural educational constraints.</a:t>
            </a:r>
            <a:endParaRPr lang="en-US" sz="2400" dirty="0">
              <a:solidFill>
                <a:schemeClr val="accent1">
                  <a:lumMod val="60000"/>
                  <a:lumOff val="40000"/>
                </a:schemeClr>
              </a:solidFill>
              <a:effectLst/>
            </a:endParaRPr>
          </a:p>
        </p:txBody>
      </p:sp>
      <p:sp>
        <p:nvSpPr>
          <p:cNvPr id="261" name="Google Shape;261;p41"/>
          <p:cNvSpPr/>
          <p:nvPr/>
        </p:nvSpPr>
        <p:spPr>
          <a:xfrm>
            <a:off x="793790" y="3533537"/>
            <a:ext cx="3898821" cy="362902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666666"/>
              </a:buClr>
              <a:buSzPts val="1750"/>
              <a:buFont typeface="IBM Plex Sans"/>
              <a:buNone/>
            </a:pPr>
            <a:endParaRPr sz="1750" b="0" i="0" u="none" strike="noStrike" cap="non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FE950B-3FFD-772F-A085-DF0854B29550}"/>
              </a:ext>
            </a:extLst>
          </p:cNvPr>
          <p:cNvSpPr txBox="1"/>
          <p:nvPr/>
        </p:nvSpPr>
        <p:spPr>
          <a:xfrm>
            <a:off x="0" y="0"/>
            <a:ext cx="14630400" cy="8463855"/>
          </a:xfrm>
          <a:prstGeom prst="rect">
            <a:avLst/>
          </a:prstGeom>
          <a:noFill/>
        </p:spPr>
        <p:txBody>
          <a:bodyPr wrap="square" rtlCol="0">
            <a:spAutoFit/>
          </a:bodyPr>
          <a:lstStyle/>
          <a:p>
            <a:r>
              <a:rPr lang="en-US" sz="3200" b="1" dirty="0">
                <a:solidFill>
                  <a:schemeClr val="accent1">
                    <a:lumMod val="60000"/>
                    <a:lumOff val="40000"/>
                  </a:schemeClr>
                </a:solidFill>
              </a:rPr>
              <a:t>Key Takeaways &amp; Implications</a:t>
            </a:r>
            <a:r>
              <a:rPr lang="en-US" sz="3200" dirty="0">
                <a:solidFill>
                  <a:schemeClr val="accent1">
                    <a:lumMod val="60000"/>
                    <a:lumOff val="40000"/>
                  </a:schemeClr>
                </a:solidFill>
              </a:rPr>
              <a:t> </a:t>
            </a:r>
          </a:p>
          <a:p>
            <a:endParaRPr lang="en-US" sz="2400" dirty="0">
              <a:solidFill>
                <a:schemeClr val="accent1">
                  <a:lumMod val="60000"/>
                  <a:lumOff val="40000"/>
                </a:schemeClr>
              </a:solidFill>
            </a:endParaRPr>
          </a:p>
          <a:p>
            <a:r>
              <a:rPr lang="en-US" sz="2400" dirty="0">
                <a:solidFill>
                  <a:schemeClr val="tx1"/>
                </a:solidFill>
              </a:rPr>
              <a:t>Independent gig work in the U.S. shows substantial geographic and economic variation. While some regions exhibit opportunity-driven participation with higher productivity, others reflect necessity-based engagement tied to lower income and cost-of-living pressures. Demographic patterns further highlight the diversity of independent workers across age, income, and education levels. These insights emphasize the need for localized, data-informed labor policies rather than one-size-fits-all solutions. </a:t>
            </a:r>
          </a:p>
          <a:p>
            <a:endParaRPr lang="en-US" sz="2400" b="1" dirty="0">
              <a:solidFill>
                <a:schemeClr val="accent1">
                  <a:lumMod val="60000"/>
                  <a:lumOff val="40000"/>
                </a:schemeClr>
              </a:solidFill>
            </a:endParaRPr>
          </a:p>
          <a:p>
            <a:r>
              <a:rPr lang="en-US" sz="3200" b="1" dirty="0">
                <a:solidFill>
                  <a:schemeClr val="accent1">
                    <a:lumMod val="60000"/>
                    <a:lumOff val="40000"/>
                  </a:schemeClr>
                </a:solidFill>
              </a:rPr>
              <a:t>Future Research Directions</a:t>
            </a:r>
            <a:endParaRPr lang="en-US" sz="3200" dirty="0">
              <a:solidFill>
                <a:schemeClr val="accent1">
                  <a:lumMod val="60000"/>
                  <a:lumOff val="40000"/>
                </a:schemeClr>
              </a:solidFill>
            </a:endParaRPr>
          </a:p>
          <a:p>
            <a:endParaRPr lang="en-US" sz="2400" dirty="0">
              <a:solidFill>
                <a:schemeClr val="accent1">
                  <a:lumMod val="60000"/>
                  <a:lumOff val="40000"/>
                </a:schemeClr>
              </a:solidFill>
            </a:endParaRPr>
          </a:p>
          <a:p>
            <a:r>
              <a:rPr lang="en-US" sz="2400" dirty="0">
                <a:solidFill>
                  <a:schemeClr val="tx1"/>
                </a:solidFill>
              </a:rPr>
              <a:t>Future analysis could incorporate longitudinal data to examine how gig participation evolves over time, particularly in response to economic shocks, policy interventions, and technological change. Integrating industry-level detail, platform-specific data, and benefits access could further deepen understanding of income stability and long-term sustainability within the gig economy. </a:t>
            </a:r>
          </a:p>
          <a:p>
            <a:endParaRPr lang="en-US" sz="2400" dirty="0">
              <a:solidFill>
                <a:schemeClr val="tx1"/>
              </a:solidFill>
            </a:endParaRPr>
          </a:p>
          <a:p>
            <a:r>
              <a:rPr lang="en-US" sz="2400" dirty="0">
                <a:solidFill>
                  <a:schemeClr val="tx1"/>
                </a:solidFill>
              </a:rPr>
              <a:t>As independent work continues to expand and reshape labor markets, understanding where, why, and how gig work occurs is essential for building a more equitable and resilient economic future. </a:t>
            </a:r>
          </a:p>
          <a:p>
            <a:br>
              <a:rPr lang="en-US" sz="2400" dirty="0">
                <a:solidFill>
                  <a:schemeClr val="tx1"/>
                </a:solidFill>
              </a:rPr>
            </a:br>
            <a:endParaRPr lang="en-US" sz="2400" dirty="0">
              <a:solidFill>
                <a:schemeClr val="tx1"/>
              </a:solidFill>
            </a:endParaRPr>
          </a:p>
          <a:p>
            <a:br>
              <a:rPr lang="en-US" sz="2400" dirty="0"/>
            </a:br>
            <a:endParaRPr lang="en-US" sz="2400" dirty="0"/>
          </a:p>
          <a:p>
            <a:endParaRPr lang="en-US" sz="2400" dirty="0"/>
          </a:p>
        </p:txBody>
      </p:sp>
    </p:spTree>
    <p:extLst>
      <p:ext uri="{BB962C8B-B14F-4D97-AF65-F5344CB8AC3E}">
        <p14:creationId xmlns:p14="http://schemas.microsoft.com/office/powerpoint/2010/main" val="609764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2235EC-854E-D567-D3B3-52501927D70B}"/>
              </a:ext>
            </a:extLst>
          </p:cNvPr>
          <p:cNvSpPr txBox="1"/>
          <p:nvPr/>
        </p:nvSpPr>
        <p:spPr>
          <a:xfrm>
            <a:off x="1" y="1"/>
            <a:ext cx="14540248" cy="7663636"/>
          </a:xfrm>
          <a:prstGeom prst="rect">
            <a:avLst/>
          </a:prstGeom>
          <a:noFill/>
        </p:spPr>
        <p:txBody>
          <a:bodyPr wrap="square" rtlCol="0">
            <a:spAutoFit/>
          </a:bodyPr>
          <a:lstStyle/>
          <a:p>
            <a:pPr algn="ctr"/>
            <a:r>
              <a:rPr lang="en-US" sz="3200" b="1" dirty="0">
                <a:solidFill>
                  <a:schemeClr val="accent1">
                    <a:lumMod val="60000"/>
                    <a:lumOff val="40000"/>
                  </a:schemeClr>
                </a:solidFill>
              </a:rPr>
              <a:t>Appendix A - Data Sources &amp; Coverage</a:t>
            </a:r>
            <a:endParaRPr lang="en-US" sz="3200" dirty="0">
              <a:solidFill>
                <a:schemeClr val="accent1">
                  <a:lumMod val="60000"/>
                  <a:lumOff val="40000"/>
                </a:schemeClr>
              </a:solidFill>
            </a:endParaRPr>
          </a:p>
          <a:p>
            <a:endParaRPr lang="en-US" sz="2000" dirty="0">
              <a:solidFill>
                <a:schemeClr val="accent1">
                  <a:lumMod val="60000"/>
                  <a:lumOff val="40000"/>
                </a:schemeClr>
              </a:solidFill>
            </a:endParaRPr>
          </a:p>
          <a:p>
            <a:r>
              <a:rPr lang="en-US" sz="2000" dirty="0">
                <a:solidFill>
                  <a:schemeClr val="tx1"/>
                </a:solidFill>
              </a:rPr>
              <a:t>1. </a:t>
            </a:r>
            <a:r>
              <a:rPr lang="en-US" sz="2000" b="1" dirty="0">
                <a:solidFill>
                  <a:schemeClr val="tx1"/>
                </a:solidFill>
              </a:rPr>
              <a:t>U.S. Census Bureau - Nonemployer Statistics (NES), 2021 (County-Level)</a:t>
            </a:r>
            <a:endParaRPr lang="en-US" sz="2000" dirty="0">
              <a:solidFill>
                <a:schemeClr val="tx1"/>
              </a:solidFill>
            </a:endParaRPr>
          </a:p>
          <a:p>
            <a:r>
              <a:rPr lang="en-US" sz="2000" b="1" dirty="0">
                <a:solidFill>
                  <a:schemeClr val="tx1"/>
                </a:solidFill>
              </a:rPr>
              <a:t>Dataset Link:</a:t>
            </a:r>
            <a:r>
              <a:rPr lang="en-US" sz="2000" dirty="0">
                <a:solidFill>
                  <a:schemeClr val="tx1"/>
                </a:solidFill>
              </a:rPr>
              <a:t> https://www.census.gov/data/datasets/2021/econ/nonemployer-statistics/2021-ns.html </a:t>
            </a:r>
          </a:p>
          <a:p>
            <a:endParaRPr lang="en-US" sz="2000" dirty="0">
              <a:solidFill>
                <a:schemeClr val="tx1"/>
              </a:solidFill>
            </a:endParaRPr>
          </a:p>
          <a:p>
            <a:r>
              <a:rPr lang="en-US" sz="2000" dirty="0">
                <a:solidFill>
                  <a:schemeClr val="tx1"/>
                </a:solidFill>
              </a:rPr>
              <a:t>Provides county-level counts and total receipts for nonemployer businesses, representing self-employed and gig-style workers. This dataset is used to compute gig worker density and average receipts per nonemployer across U.S. counties.</a:t>
            </a:r>
          </a:p>
          <a:p>
            <a:endParaRPr lang="en-US" sz="2000" dirty="0">
              <a:solidFill>
                <a:schemeClr val="tx1"/>
              </a:solidFill>
            </a:endParaRPr>
          </a:p>
          <a:p>
            <a:r>
              <a:rPr lang="en-US" sz="2000" b="1" dirty="0">
                <a:solidFill>
                  <a:schemeClr val="tx1"/>
                </a:solidFill>
              </a:rPr>
              <a:t>2. Federal Reserve - Survey of Household Economics and Decisionmaking (SHED), 2022</a:t>
            </a:r>
            <a:endParaRPr lang="en-US" sz="2000" dirty="0">
              <a:solidFill>
                <a:schemeClr val="tx1"/>
              </a:solidFill>
            </a:endParaRPr>
          </a:p>
          <a:p>
            <a:r>
              <a:rPr lang="en-US" sz="2000" b="1" dirty="0">
                <a:solidFill>
                  <a:schemeClr val="tx1"/>
                </a:solidFill>
              </a:rPr>
              <a:t>Dataset Link:</a:t>
            </a:r>
            <a:r>
              <a:rPr lang="en-US" sz="2000" dirty="0">
                <a:solidFill>
                  <a:schemeClr val="tx1"/>
                </a:solidFill>
              </a:rPr>
              <a:t> https://www.federalreserve.gov/consumerscommunities/shed_data.htm</a:t>
            </a:r>
          </a:p>
          <a:p>
            <a:endParaRPr lang="en-US" sz="2000" dirty="0">
              <a:solidFill>
                <a:schemeClr val="tx1"/>
              </a:solidFill>
            </a:endParaRPr>
          </a:p>
          <a:p>
            <a:r>
              <a:rPr lang="en-US" sz="2000" dirty="0">
                <a:solidFill>
                  <a:schemeClr val="tx1"/>
                </a:solidFill>
              </a:rPr>
              <a:t>A nationally representative household survey capturing gig work participation, income reliance, education, age, and financial wellbeing. SHED data is analyzed separately to profile who participates in independent work and their economic conditions.</a:t>
            </a:r>
          </a:p>
          <a:p>
            <a:endParaRPr lang="en-US" sz="2000" dirty="0">
              <a:solidFill>
                <a:schemeClr val="tx1"/>
              </a:solidFill>
            </a:endParaRPr>
          </a:p>
          <a:p>
            <a:r>
              <a:rPr lang="en-US" sz="2000" dirty="0">
                <a:solidFill>
                  <a:schemeClr val="tx1"/>
                </a:solidFill>
              </a:rPr>
              <a:t>3. </a:t>
            </a:r>
            <a:r>
              <a:rPr lang="en-US" sz="2000" b="1" dirty="0">
                <a:solidFill>
                  <a:schemeClr val="tx1"/>
                </a:solidFill>
              </a:rPr>
              <a:t>County Health Rankings &amp; Roadmaps (CHR), 2024 Analytic Data</a:t>
            </a:r>
            <a:endParaRPr lang="en-US" sz="2000" dirty="0">
              <a:solidFill>
                <a:schemeClr val="tx1"/>
              </a:solidFill>
            </a:endParaRPr>
          </a:p>
          <a:p>
            <a:r>
              <a:rPr lang="en-US" sz="2000" b="1" dirty="0">
                <a:solidFill>
                  <a:schemeClr val="tx1"/>
                </a:solidFill>
              </a:rPr>
              <a:t>Dataset Link:</a:t>
            </a:r>
            <a:r>
              <a:rPr lang="en-US" sz="2000" dirty="0">
                <a:solidFill>
                  <a:schemeClr val="tx1"/>
                </a:solidFill>
              </a:rPr>
              <a:t> https://www.countyhealthrankings.org/explore-health-rankings/rankings-data-documentation</a:t>
            </a:r>
          </a:p>
          <a:p>
            <a:r>
              <a:rPr lang="en-US" sz="2000" dirty="0">
                <a:solidFill>
                  <a:schemeClr val="tx1"/>
                </a:solidFill>
              </a:rPr>
              <a:t>(Downloaded: </a:t>
            </a:r>
            <a:r>
              <a:rPr lang="en-US" sz="2000" b="1" dirty="0">
                <a:solidFill>
                  <a:schemeClr val="tx1"/>
                </a:solidFill>
              </a:rPr>
              <a:t>2024 CHR Analytic Data – CSV</a:t>
            </a:r>
            <a:r>
              <a:rPr lang="en-US" sz="2000" dirty="0">
                <a:solidFill>
                  <a:schemeClr val="tx1"/>
                </a:solidFill>
              </a:rPr>
              <a:t>) </a:t>
            </a:r>
          </a:p>
          <a:p>
            <a:endParaRPr lang="en-US" sz="2000" dirty="0">
              <a:solidFill>
                <a:schemeClr val="tx1"/>
              </a:solidFill>
            </a:endParaRPr>
          </a:p>
          <a:p>
            <a:r>
              <a:rPr lang="en-US" sz="2000" dirty="0">
                <a:solidFill>
                  <a:schemeClr val="tx1"/>
                </a:solidFill>
              </a:rPr>
              <a:t>Provides county-level socioeconomic indicators, including living wage benchmarks and population data. This dataset supports cost-of-living comparisons and the construction of gig income sufficiency metrics.</a:t>
            </a:r>
          </a:p>
          <a:p>
            <a:endParaRPr lang="en-US" sz="2000" dirty="0">
              <a:solidFill>
                <a:schemeClr val="tx1"/>
              </a:solidFill>
            </a:endParaRPr>
          </a:p>
          <a:p>
            <a:r>
              <a:rPr lang="en-US" sz="2000" dirty="0">
                <a:solidFill>
                  <a:schemeClr val="tx1"/>
                </a:solidFill>
              </a:rPr>
              <a:t>Together, these datasets enable a multi-layered analysis linking </a:t>
            </a:r>
            <a:r>
              <a:rPr lang="en-US" sz="2000" b="1" dirty="0">
                <a:solidFill>
                  <a:schemeClr val="tx1"/>
                </a:solidFill>
              </a:rPr>
              <a:t>where gig work is concentrated</a:t>
            </a:r>
            <a:r>
              <a:rPr lang="en-US" sz="2000" dirty="0">
                <a:solidFill>
                  <a:schemeClr val="tx1"/>
                </a:solidFill>
              </a:rPr>
              <a:t>, </a:t>
            </a:r>
            <a:r>
              <a:rPr lang="en-US" sz="2000" b="1" dirty="0">
                <a:solidFill>
                  <a:schemeClr val="tx1"/>
                </a:solidFill>
              </a:rPr>
              <a:t>who participates</a:t>
            </a:r>
            <a:r>
              <a:rPr lang="en-US" sz="2000" dirty="0">
                <a:solidFill>
                  <a:schemeClr val="tx1"/>
                </a:solidFill>
              </a:rPr>
              <a:t>, and </a:t>
            </a:r>
            <a:r>
              <a:rPr lang="en-US" sz="2000" b="1" dirty="0">
                <a:solidFill>
                  <a:schemeClr val="tx1"/>
                </a:solidFill>
              </a:rPr>
              <a:t>how financially viable independent work is across different regions</a:t>
            </a:r>
            <a:r>
              <a:rPr lang="en-US" sz="2000" dirty="0">
                <a:solidFill>
                  <a:schemeClr val="tx1"/>
                </a:solidFill>
              </a:rPr>
              <a:t>. </a:t>
            </a:r>
          </a:p>
          <a:p>
            <a:endParaRPr lang="en-US" sz="2000" dirty="0">
              <a:solidFill>
                <a:schemeClr val="accent1">
                  <a:lumMod val="60000"/>
                  <a:lumOff val="40000"/>
                </a:schemeClr>
              </a:solidFill>
            </a:endParaRPr>
          </a:p>
        </p:txBody>
      </p:sp>
    </p:spTree>
    <p:extLst>
      <p:ext uri="{BB962C8B-B14F-4D97-AF65-F5344CB8AC3E}">
        <p14:creationId xmlns:p14="http://schemas.microsoft.com/office/powerpoint/2010/main" val="851151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91ED0B-E21D-4019-073F-A6B36D517A32}"/>
              </a:ext>
            </a:extLst>
          </p:cNvPr>
          <p:cNvSpPr txBox="1"/>
          <p:nvPr/>
        </p:nvSpPr>
        <p:spPr>
          <a:xfrm>
            <a:off x="0" y="0"/>
            <a:ext cx="14630399" cy="8679299"/>
          </a:xfrm>
          <a:prstGeom prst="rect">
            <a:avLst/>
          </a:prstGeom>
          <a:noFill/>
        </p:spPr>
        <p:txBody>
          <a:bodyPr wrap="square" rtlCol="0">
            <a:spAutoFit/>
          </a:bodyPr>
          <a:lstStyle/>
          <a:p>
            <a:pPr algn="ctr"/>
            <a:r>
              <a:rPr lang="en-US" sz="3200" b="1" dirty="0">
                <a:solidFill>
                  <a:schemeClr val="accent1">
                    <a:lumMod val="60000"/>
                    <a:lumOff val="40000"/>
                  </a:schemeClr>
                </a:solidFill>
              </a:rPr>
              <a:t>Appendix B - Visualization Design Choices &amp; Justification</a:t>
            </a:r>
            <a:r>
              <a:rPr lang="en-US" sz="3200" dirty="0">
                <a:solidFill>
                  <a:schemeClr val="accent1">
                    <a:lumMod val="60000"/>
                    <a:lumOff val="40000"/>
                  </a:schemeClr>
                </a:solidFill>
              </a:rPr>
              <a:t> </a:t>
            </a:r>
            <a:br>
              <a:rPr lang="en-US" sz="1800" dirty="0">
                <a:solidFill>
                  <a:schemeClr val="accent1">
                    <a:lumMod val="60000"/>
                    <a:lumOff val="40000"/>
                  </a:schemeClr>
                </a:solidFill>
              </a:rPr>
            </a:br>
            <a:endParaRPr lang="en-US" sz="1800" dirty="0">
              <a:solidFill>
                <a:schemeClr val="accent1">
                  <a:lumMod val="60000"/>
                  <a:lumOff val="40000"/>
                </a:schemeClr>
              </a:solidFill>
            </a:endParaRPr>
          </a:p>
          <a:p>
            <a:r>
              <a:rPr lang="en-US" sz="1800" b="1" dirty="0">
                <a:solidFill>
                  <a:schemeClr val="tx1"/>
                </a:solidFill>
              </a:rPr>
              <a:t>1. Choropleth Maps (County-Level)</a:t>
            </a:r>
            <a:endParaRPr lang="en-US" sz="1800" dirty="0">
              <a:solidFill>
                <a:schemeClr val="tx1"/>
              </a:solidFill>
            </a:endParaRPr>
          </a:p>
          <a:p>
            <a:r>
              <a:rPr lang="en-US" sz="1800" dirty="0">
                <a:solidFill>
                  <a:schemeClr val="tx1"/>
                </a:solidFill>
              </a:rPr>
              <a:t>Used to visualize spatial variation in gig density, income, and economic sufficiency, enabling identification of regional patterns and geographic clustering.</a:t>
            </a:r>
          </a:p>
          <a:p>
            <a:endParaRPr lang="en-US" sz="1800" dirty="0">
              <a:solidFill>
                <a:schemeClr val="tx1"/>
              </a:solidFill>
            </a:endParaRPr>
          </a:p>
          <a:p>
            <a:r>
              <a:rPr lang="en-US" sz="1800" b="1" dirty="0">
                <a:solidFill>
                  <a:schemeClr val="tx1"/>
                </a:solidFill>
              </a:rPr>
              <a:t>2. Ranked Bar Charts</a:t>
            </a:r>
            <a:endParaRPr lang="en-US" sz="1800" dirty="0">
              <a:solidFill>
                <a:schemeClr val="tx1"/>
              </a:solidFill>
            </a:endParaRPr>
          </a:p>
          <a:p>
            <a:r>
              <a:rPr lang="en-US" sz="1800" dirty="0">
                <a:solidFill>
                  <a:schemeClr val="tx1"/>
                </a:solidFill>
              </a:rPr>
              <a:t>Used to compare top counties and categorical distributions, supporting clear magnitude comparison and highlighting extreme values.</a:t>
            </a:r>
            <a:br>
              <a:rPr lang="en-US" sz="1800" dirty="0">
                <a:solidFill>
                  <a:schemeClr val="tx1"/>
                </a:solidFill>
              </a:rPr>
            </a:br>
            <a:endParaRPr lang="en-US" sz="1800" dirty="0">
              <a:solidFill>
                <a:schemeClr val="tx1"/>
              </a:solidFill>
            </a:endParaRPr>
          </a:p>
          <a:p>
            <a:r>
              <a:rPr lang="en-US" sz="1800" b="1" dirty="0">
                <a:solidFill>
                  <a:schemeClr val="tx1"/>
                </a:solidFill>
              </a:rPr>
              <a:t>3. Stacked Bar Charts</a:t>
            </a:r>
            <a:endParaRPr lang="en-US" sz="1800" dirty="0">
              <a:solidFill>
                <a:schemeClr val="tx1"/>
              </a:solidFill>
            </a:endParaRPr>
          </a:p>
          <a:p>
            <a:r>
              <a:rPr lang="en-US" sz="1800" dirty="0">
                <a:solidFill>
                  <a:schemeClr val="tx1"/>
                </a:solidFill>
              </a:rPr>
              <a:t>Used to analyze proportional composition (e.g., education by income), allowing comparison of category shares within and across income groups.</a:t>
            </a:r>
          </a:p>
          <a:p>
            <a:endParaRPr lang="en-US" sz="1800" dirty="0">
              <a:solidFill>
                <a:schemeClr val="tx1"/>
              </a:solidFill>
            </a:endParaRPr>
          </a:p>
          <a:p>
            <a:r>
              <a:rPr lang="en-US" sz="1800" b="1" dirty="0">
                <a:solidFill>
                  <a:schemeClr val="tx1"/>
                </a:solidFill>
              </a:rPr>
              <a:t>4. Scatter Plots with Trend Lines</a:t>
            </a:r>
            <a:endParaRPr lang="en-US" sz="1800" dirty="0">
              <a:solidFill>
                <a:schemeClr val="tx1"/>
              </a:solidFill>
            </a:endParaRPr>
          </a:p>
          <a:p>
            <a:r>
              <a:rPr lang="en-US" sz="1800" dirty="0">
                <a:solidFill>
                  <a:schemeClr val="tx1"/>
                </a:solidFill>
              </a:rPr>
              <a:t>Used to examine relationships between gig density, income, receipts, and economic sufficiency while retaining visibility of outliers and variability.</a:t>
            </a:r>
          </a:p>
          <a:p>
            <a:endParaRPr lang="en-US" sz="1800" dirty="0">
              <a:solidFill>
                <a:schemeClr val="tx1"/>
              </a:solidFill>
            </a:endParaRPr>
          </a:p>
          <a:p>
            <a:r>
              <a:rPr lang="en-US" sz="1800" b="1" dirty="0">
                <a:solidFill>
                  <a:schemeClr val="tx1"/>
                </a:solidFill>
              </a:rPr>
              <a:t>5. Histograms</a:t>
            </a:r>
            <a:endParaRPr lang="en-US" sz="1800" dirty="0">
              <a:solidFill>
                <a:schemeClr val="tx1"/>
              </a:solidFill>
            </a:endParaRPr>
          </a:p>
          <a:p>
            <a:r>
              <a:rPr lang="en-US" sz="1800" dirty="0">
                <a:solidFill>
                  <a:schemeClr val="tx1"/>
                </a:solidFill>
              </a:rPr>
              <a:t>Used to display the distribution of gig worker density across counties, revealing skewness and long-tail concentration not visible in averages.</a:t>
            </a:r>
          </a:p>
          <a:p>
            <a:endParaRPr lang="en-US" sz="1800" dirty="0">
              <a:solidFill>
                <a:schemeClr val="tx1"/>
              </a:solidFill>
            </a:endParaRPr>
          </a:p>
          <a:p>
            <a:r>
              <a:rPr lang="en-US" sz="1800" b="1" dirty="0">
                <a:solidFill>
                  <a:schemeClr val="tx1"/>
                </a:solidFill>
              </a:rPr>
              <a:t>6. Heatmaps</a:t>
            </a:r>
            <a:endParaRPr lang="en-US" sz="1800" dirty="0">
              <a:solidFill>
                <a:schemeClr val="tx1"/>
              </a:solidFill>
            </a:endParaRPr>
          </a:p>
          <a:p>
            <a:r>
              <a:rPr lang="en-US" sz="1800" dirty="0">
                <a:solidFill>
                  <a:schemeClr val="tx1"/>
                </a:solidFill>
              </a:rPr>
              <a:t>Used to represent multivariate relationships between age groups and income ranges, enabling efficient comparison of intensity across categories.</a:t>
            </a:r>
            <a:br>
              <a:rPr lang="en-US" sz="1800" dirty="0">
                <a:solidFill>
                  <a:schemeClr val="tx1"/>
                </a:solidFill>
              </a:rPr>
            </a:br>
            <a:endParaRPr lang="en-US" sz="1800" dirty="0">
              <a:solidFill>
                <a:schemeClr val="tx1"/>
              </a:solidFill>
            </a:endParaRPr>
          </a:p>
          <a:p>
            <a:r>
              <a:rPr lang="en-US" sz="1800" b="1" dirty="0">
                <a:solidFill>
                  <a:schemeClr val="tx1"/>
                </a:solidFill>
              </a:rPr>
              <a:t>7. Packed Bubble Charts</a:t>
            </a:r>
            <a:endParaRPr lang="en-US" sz="1800" dirty="0">
              <a:solidFill>
                <a:schemeClr val="tx1"/>
              </a:solidFill>
            </a:endParaRPr>
          </a:p>
          <a:p>
            <a:r>
              <a:rPr lang="en-US" sz="1800" dirty="0">
                <a:solidFill>
                  <a:schemeClr val="tx1"/>
                </a:solidFill>
              </a:rPr>
              <a:t>Used to summarize education composition among independent workers, emphasizing relative magnitude and categorical share.</a:t>
            </a:r>
          </a:p>
          <a:p>
            <a:endParaRPr lang="en-US" sz="1800" dirty="0">
              <a:solidFill>
                <a:schemeClr val="tx1"/>
              </a:solidFill>
            </a:endParaRPr>
          </a:p>
          <a:p>
            <a:r>
              <a:rPr lang="en-US" sz="1800" dirty="0">
                <a:solidFill>
                  <a:schemeClr val="tx1"/>
                </a:solidFill>
              </a:rPr>
              <a:t>Collectively, these visualization choices ensure </a:t>
            </a:r>
            <a:r>
              <a:rPr lang="en-US" sz="1800" b="1" dirty="0">
                <a:solidFill>
                  <a:schemeClr val="tx1"/>
                </a:solidFill>
              </a:rPr>
              <a:t>non-redundant perspectives</a:t>
            </a:r>
            <a:r>
              <a:rPr lang="en-US" sz="1800" dirty="0">
                <a:solidFill>
                  <a:schemeClr val="tx1"/>
                </a:solidFill>
              </a:rPr>
              <a:t>, reinforce analytical clarity, and support an interactive, narrative-driven exploration of the U.S. gig economy. </a:t>
            </a:r>
          </a:p>
          <a:p>
            <a:endParaRPr lang="en-US" sz="1800" dirty="0">
              <a:solidFill>
                <a:schemeClr val="accent1">
                  <a:lumMod val="60000"/>
                  <a:lumOff val="40000"/>
                </a:schemeClr>
              </a:solidFill>
            </a:endParaRPr>
          </a:p>
        </p:txBody>
      </p:sp>
    </p:spTree>
    <p:extLst>
      <p:ext uri="{BB962C8B-B14F-4D97-AF65-F5344CB8AC3E}">
        <p14:creationId xmlns:p14="http://schemas.microsoft.com/office/powerpoint/2010/main" val="67090143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1352</Words>
  <Application>Microsoft Macintosh PowerPoint</Application>
  <PresentationFormat>Custom</PresentationFormat>
  <Paragraphs>105</Paragraphs>
  <Slides>20</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IBM Plex Sans</vt:lpstr>
      <vt:lpstr>Arial</vt:lpstr>
      <vt:lpstr>Calibri</vt:lpstr>
      <vt:lpstr>Outfit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Mayank Choudhary</cp:lastModifiedBy>
  <cp:revision>4</cp:revision>
  <dcterms:modified xsi:type="dcterms:W3CDTF">2025-12-14T01:35:23Z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2025-12-14T00:35:24Z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b4468f36-6400-4c07-9f2c-78352d1965b4</vt:lpwstr>
  </property>
  <property fmtid="{D5CDD505-2E9C-101B-9397-08002B2CF9AE}" pid="8" name="MSIP_Label_a73fd474-4f3c-44ed-88fb-5cc4bd2471bf_ContentBits">
    <vt:lpwstr>0</vt:lpwstr>
  </property>
  <property fmtid="{D5CDD505-2E9C-101B-9397-08002B2CF9AE}" pid="9" name="MSIP_Label_a73fd474-4f3c-44ed-88fb-5cc4bd2471bf_Tag">
    <vt:lpwstr>50, 3, 0, 1</vt:lpwstr>
  </property>
</Properties>
</file>